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47"/>
    <p:restoredTop sz="94638"/>
  </p:normalViewPr>
  <p:slideViewPr>
    <p:cSldViewPr snapToGrid="0" snapToObjects="1">
      <p:cViewPr varScale="1">
        <p:scale>
          <a:sx n="128" d="100"/>
          <a:sy n="128" d="100"/>
        </p:scale>
        <p:origin x="154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D833AB-EA19-498D-BE67-E21638D0234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535EB55-C991-48F7-96C9-C043010954B8}">
      <dgm:prSet/>
      <dgm:spPr/>
      <dgm:t>
        <a:bodyPr/>
        <a:lstStyle/>
        <a:p>
          <a:pPr>
            <a:defRPr cap="all"/>
          </a:pPr>
          <a:r>
            <a:rPr lang="en-US"/>
            <a:t>Riverdale’s map marker shows its Midwest location; colour indicates current occupancy.</a:t>
          </a:r>
        </a:p>
      </dgm:t>
    </dgm:pt>
    <dgm:pt modelId="{A5AAA52A-9DEC-473B-9FA0-703623DA631C}" type="parTrans" cxnId="{2E1935A8-6083-44FF-B5F2-38E5A6F9A5CB}">
      <dgm:prSet/>
      <dgm:spPr/>
      <dgm:t>
        <a:bodyPr/>
        <a:lstStyle/>
        <a:p>
          <a:endParaRPr lang="en-US"/>
        </a:p>
      </dgm:t>
    </dgm:pt>
    <dgm:pt modelId="{D32BDD5A-BFDA-493D-B65C-B8B757B02D14}" type="sibTrans" cxnId="{2E1935A8-6083-44FF-B5F2-38E5A6F9A5CB}">
      <dgm:prSet/>
      <dgm:spPr/>
      <dgm:t>
        <a:bodyPr/>
        <a:lstStyle/>
        <a:p>
          <a:endParaRPr lang="en-US"/>
        </a:p>
      </dgm:t>
    </dgm:pt>
    <dgm:pt modelId="{3C2D2BD7-E534-414D-A4BE-4AA1D3B3B8CF}">
      <dgm:prSet/>
      <dgm:spPr/>
      <dgm:t>
        <a:bodyPr/>
        <a:lstStyle/>
        <a:p>
          <a:pPr>
            <a:defRPr cap="all"/>
          </a:pPr>
          <a:r>
            <a:rPr lang="en-US"/>
            <a:t>Blue bars (Active Patients) and orange line (Staff) track each January‑March day.</a:t>
          </a:r>
        </a:p>
      </dgm:t>
    </dgm:pt>
    <dgm:pt modelId="{7897B2B7-CD6C-4916-BC85-537ACF709469}" type="parTrans" cxnId="{BFAEC7BC-DED3-42EF-AD52-E75F38F73EA6}">
      <dgm:prSet/>
      <dgm:spPr/>
      <dgm:t>
        <a:bodyPr/>
        <a:lstStyle/>
        <a:p>
          <a:endParaRPr lang="en-US"/>
        </a:p>
      </dgm:t>
    </dgm:pt>
    <dgm:pt modelId="{46EF3065-B97F-40A2-8870-F72F66717AEB}" type="sibTrans" cxnId="{BFAEC7BC-DED3-42EF-AD52-E75F38F73EA6}">
      <dgm:prSet/>
      <dgm:spPr/>
      <dgm:t>
        <a:bodyPr/>
        <a:lstStyle/>
        <a:p>
          <a:endParaRPr lang="en-US"/>
        </a:p>
      </dgm:t>
    </dgm:pt>
    <dgm:pt modelId="{6D2B9F8C-E7EF-4B3C-BAA5-86B3B6179FF6}">
      <dgm:prSet/>
      <dgm:spPr/>
      <dgm:t>
        <a:bodyPr/>
        <a:lstStyle/>
        <a:p>
          <a:pPr>
            <a:defRPr cap="all"/>
          </a:pPr>
          <a:r>
            <a:rPr lang="en-US"/>
            <a:t>Quarterly bar‑pair: Beds ≈ 31, Staff ≈ 27 → utilisation ~87 %.</a:t>
          </a:r>
        </a:p>
      </dgm:t>
    </dgm:pt>
    <dgm:pt modelId="{1E933A0A-E665-4444-A625-E66F91CA9B4A}" type="parTrans" cxnId="{B30BFAEA-4D8E-401D-89ED-BFFEF1051092}">
      <dgm:prSet/>
      <dgm:spPr/>
      <dgm:t>
        <a:bodyPr/>
        <a:lstStyle/>
        <a:p>
          <a:endParaRPr lang="en-US"/>
        </a:p>
      </dgm:t>
    </dgm:pt>
    <dgm:pt modelId="{213BA6F8-5B02-415F-BF64-2ECDA9391765}" type="sibTrans" cxnId="{B30BFAEA-4D8E-401D-89ED-BFFEF1051092}">
      <dgm:prSet/>
      <dgm:spPr/>
      <dgm:t>
        <a:bodyPr/>
        <a:lstStyle/>
        <a:p>
          <a:endParaRPr lang="en-US"/>
        </a:p>
      </dgm:t>
    </dgm:pt>
    <dgm:pt modelId="{02BD1269-27A4-4B37-A0B7-B84A627D676E}">
      <dgm:prSet/>
      <dgm:spPr/>
      <dgm:t>
        <a:bodyPr/>
        <a:lstStyle/>
        <a:p>
          <a:pPr>
            <a:defRPr cap="all"/>
          </a:pPr>
          <a:r>
            <a:rPr lang="en-US"/>
            <a:t>Treatment‑type bars reveal Chemotherapy &amp; Medication dominate patient load.</a:t>
          </a:r>
        </a:p>
      </dgm:t>
    </dgm:pt>
    <dgm:pt modelId="{6E7AAEF6-5ADC-412E-A713-AAD2FF3C5046}" type="parTrans" cxnId="{77378F26-0504-4A9C-A635-1172025D55BA}">
      <dgm:prSet/>
      <dgm:spPr/>
      <dgm:t>
        <a:bodyPr/>
        <a:lstStyle/>
        <a:p>
          <a:endParaRPr lang="en-US"/>
        </a:p>
      </dgm:t>
    </dgm:pt>
    <dgm:pt modelId="{53D91C5C-7861-45FE-B4BA-B41D495B398F}" type="sibTrans" cxnId="{77378F26-0504-4A9C-A635-1172025D55BA}">
      <dgm:prSet/>
      <dgm:spPr/>
      <dgm:t>
        <a:bodyPr/>
        <a:lstStyle/>
        <a:p>
          <a:endParaRPr lang="en-US"/>
        </a:p>
      </dgm:t>
    </dgm:pt>
    <dgm:pt modelId="{B0E8C957-80B2-404E-98B7-25DFAAC570E4}">
      <dgm:prSet/>
      <dgm:spPr/>
      <dgm:t>
        <a:bodyPr/>
        <a:lstStyle/>
        <a:p>
          <a:pPr>
            <a:defRPr cap="all"/>
          </a:pPr>
          <a:r>
            <a:rPr lang="en-US"/>
            <a:t>Staff‑to‑patient ratio hovers near 1 : 20 – adequate but watch peak days.</a:t>
          </a:r>
        </a:p>
      </dgm:t>
    </dgm:pt>
    <dgm:pt modelId="{2FAEEC9C-C543-4772-94BB-D686B9F68606}" type="parTrans" cxnId="{CB541297-1246-432D-873B-0F5A1473DDD6}">
      <dgm:prSet/>
      <dgm:spPr/>
      <dgm:t>
        <a:bodyPr/>
        <a:lstStyle/>
        <a:p>
          <a:endParaRPr lang="en-US"/>
        </a:p>
      </dgm:t>
    </dgm:pt>
    <dgm:pt modelId="{C8202E37-EF5E-42E0-8049-F24EEC7034BE}" type="sibTrans" cxnId="{CB541297-1246-432D-873B-0F5A1473DDD6}">
      <dgm:prSet/>
      <dgm:spPr/>
      <dgm:t>
        <a:bodyPr/>
        <a:lstStyle/>
        <a:p>
          <a:endParaRPr lang="en-US"/>
        </a:p>
      </dgm:t>
    </dgm:pt>
    <dgm:pt modelId="{7A521590-C0DB-46D5-B2DB-AA57CD928831}" type="pres">
      <dgm:prSet presAssocID="{0CD833AB-EA19-498D-BE67-E21638D0234E}" presName="root" presStyleCnt="0">
        <dgm:presLayoutVars>
          <dgm:dir/>
          <dgm:resizeHandles val="exact"/>
        </dgm:presLayoutVars>
      </dgm:prSet>
      <dgm:spPr/>
    </dgm:pt>
    <dgm:pt modelId="{0830D87A-0DC1-4C41-AC1B-9AE46887A11F}" type="pres">
      <dgm:prSet presAssocID="{3535EB55-C991-48F7-96C9-C043010954B8}" presName="compNode" presStyleCnt="0"/>
      <dgm:spPr/>
    </dgm:pt>
    <dgm:pt modelId="{FF444ABF-80CA-43A8-A2A7-FAFA18C40ED9}" type="pres">
      <dgm:prSet presAssocID="{3535EB55-C991-48F7-96C9-C043010954B8}" presName="iconBgRect" presStyleLbl="bgShp" presStyleIdx="0" presStyleCnt="5"/>
      <dgm:spPr/>
    </dgm:pt>
    <dgm:pt modelId="{DFC4C786-982A-4F70-8FBC-D731F05AF3B9}" type="pres">
      <dgm:prSet presAssocID="{3535EB55-C991-48F7-96C9-C043010954B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74B2578B-6DAF-4EC0-B9C4-B91FA8067077}" type="pres">
      <dgm:prSet presAssocID="{3535EB55-C991-48F7-96C9-C043010954B8}" presName="spaceRect" presStyleCnt="0"/>
      <dgm:spPr/>
    </dgm:pt>
    <dgm:pt modelId="{1129BE69-0A07-4FB4-A714-7E4755BCBA63}" type="pres">
      <dgm:prSet presAssocID="{3535EB55-C991-48F7-96C9-C043010954B8}" presName="textRect" presStyleLbl="revTx" presStyleIdx="0" presStyleCnt="5">
        <dgm:presLayoutVars>
          <dgm:chMax val="1"/>
          <dgm:chPref val="1"/>
        </dgm:presLayoutVars>
      </dgm:prSet>
      <dgm:spPr/>
    </dgm:pt>
    <dgm:pt modelId="{84CF4DB9-100A-4116-91ED-81E47DC4A806}" type="pres">
      <dgm:prSet presAssocID="{D32BDD5A-BFDA-493D-B65C-B8B757B02D14}" presName="sibTrans" presStyleCnt="0"/>
      <dgm:spPr/>
    </dgm:pt>
    <dgm:pt modelId="{F739AFF0-F1A0-4F9D-B112-085EFD5A83DC}" type="pres">
      <dgm:prSet presAssocID="{3C2D2BD7-E534-414D-A4BE-4AA1D3B3B8CF}" presName="compNode" presStyleCnt="0"/>
      <dgm:spPr/>
    </dgm:pt>
    <dgm:pt modelId="{A1174698-C1E4-44F8-9D64-EEF6C74C6874}" type="pres">
      <dgm:prSet presAssocID="{3C2D2BD7-E534-414D-A4BE-4AA1D3B3B8CF}" presName="iconBgRect" presStyleLbl="bgShp" presStyleIdx="1" presStyleCnt="5"/>
      <dgm:spPr/>
    </dgm:pt>
    <dgm:pt modelId="{31B607CB-1497-4212-B51E-98FF533884BB}" type="pres">
      <dgm:prSet presAssocID="{3C2D2BD7-E534-414D-A4BE-4AA1D3B3B8C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E78D6FD0-5853-418D-B4A9-C4482C58668E}" type="pres">
      <dgm:prSet presAssocID="{3C2D2BD7-E534-414D-A4BE-4AA1D3B3B8CF}" presName="spaceRect" presStyleCnt="0"/>
      <dgm:spPr/>
    </dgm:pt>
    <dgm:pt modelId="{02EC5F4B-F79D-4996-899C-D8A3E0E9C4BB}" type="pres">
      <dgm:prSet presAssocID="{3C2D2BD7-E534-414D-A4BE-4AA1D3B3B8CF}" presName="textRect" presStyleLbl="revTx" presStyleIdx="1" presStyleCnt="5">
        <dgm:presLayoutVars>
          <dgm:chMax val="1"/>
          <dgm:chPref val="1"/>
        </dgm:presLayoutVars>
      </dgm:prSet>
      <dgm:spPr/>
    </dgm:pt>
    <dgm:pt modelId="{477AD6F8-6AEB-40A2-AAAC-E3C02962169D}" type="pres">
      <dgm:prSet presAssocID="{46EF3065-B97F-40A2-8870-F72F66717AEB}" presName="sibTrans" presStyleCnt="0"/>
      <dgm:spPr/>
    </dgm:pt>
    <dgm:pt modelId="{86BAD505-513C-4ECD-8721-097E0CF6E54F}" type="pres">
      <dgm:prSet presAssocID="{6D2B9F8C-E7EF-4B3C-BAA5-86B3B6179FF6}" presName="compNode" presStyleCnt="0"/>
      <dgm:spPr/>
    </dgm:pt>
    <dgm:pt modelId="{B72FFAA8-F838-4F31-B6E8-3F5F237C2F55}" type="pres">
      <dgm:prSet presAssocID="{6D2B9F8C-E7EF-4B3C-BAA5-86B3B6179FF6}" presName="iconBgRect" presStyleLbl="bgShp" presStyleIdx="2" presStyleCnt="5"/>
      <dgm:spPr/>
    </dgm:pt>
    <dgm:pt modelId="{A2F08F32-F22A-49CA-A803-1DA84B6C11A5}" type="pres">
      <dgm:prSet presAssocID="{6D2B9F8C-E7EF-4B3C-BAA5-86B3B6179FF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99C554C8-DF80-4EBD-AC69-132B4EBB0E46}" type="pres">
      <dgm:prSet presAssocID="{6D2B9F8C-E7EF-4B3C-BAA5-86B3B6179FF6}" presName="spaceRect" presStyleCnt="0"/>
      <dgm:spPr/>
    </dgm:pt>
    <dgm:pt modelId="{3EF6DFDD-00DF-49AB-8237-B61E0BD172D9}" type="pres">
      <dgm:prSet presAssocID="{6D2B9F8C-E7EF-4B3C-BAA5-86B3B6179FF6}" presName="textRect" presStyleLbl="revTx" presStyleIdx="2" presStyleCnt="5">
        <dgm:presLayoutVars>
          <dgm:chMax val="1"/>
          <dgm:chPref val="1"/>
        </dgm:presLayoutVars>
      </dgm:prSet>
      <dgm:spPr/>
    </dgm:pt>
    <dgm:pt modelId="{A2BF8BB6-CEB4-4E99-939E-AE58DA28790B}" type="pres">
      <dgm:prSet presAssocID="{213BA6F8-5B02-415F-BF64-2ECDA9391765}" presName="sibTrans" presStyleCnt="0"/>
      <dgm:spPr/>
    </dgm:pt>
    <dgm:pt modelId="{13E99D19-6059-44CE-89F5-2A484604D670}" type="pres">
      <dgm:prSet presAssocID="{02BD1269-27A4-4B37-A0B7-B84A627D676E}" presName="compNode" presStyleCnt="0"/>
      <dgm:spPr/>
    </dgm:pt>
    <dgm:pt modelId="{7B799A1A-6F2D-425C-B45D-B08172224DAC}" type="pres">
      <dgm:prSet presAssocID="{02BD1269-27A4-4B37-A0B7-B84A627D676E}" presName="iconBgRect" presStyleLbl="bgShp" presStyleIdx="3" presStyleCnt="5"/>
      <dgm:spPr/>
    </dgm:pt>
    <dgm:pt modelId="{D3DCD54A-6675-4430-938B-03B2201C779B}" type="pres">
      <dgm:prSet presAssocID="{02BD1269-27A4-4B37-A0B7-B84A627D676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V"/>
        </a:ext>
      </dgm:extLst>
    </dgm:pt>
    <dgm:pt modelId="{75AD9483-CF09-4281-B3FE-7916D2A670A9}" type="pres">
      <dgm:prSet presAssocID="{02BD1269-27A4-4B37-A0B7-B84A627D676E}" presName="spaceRect" presStyleCnt="0"/>
      <dgm:spPr/>
    </dgm:pt>
    <dgm:pt modelId="{9F03CE0B-6D05-4F2C-8526-890420B50807}" type="pres">
      <dgm:prSet presAssocID="{02BD1269-27A4-4B37-A0B7-B84A627D676E}" presName="textRect" presStyleLbl="revTx" presStyleIdx="3" presStyleCnt="5">
        <dgm:presLayoutVars>
          <dgm:chMax val="1"/>
          <dgm:chPref val="1"/>
        </dgm:presLayoutVars>
      </dgm:prSet>
      <dgm:spPr/>
    </dgm:pt>
    <dgm:pt modelId="{907D5509-CD04-45BD-AA71-7DB7513F46AF}" type="pres">
      <dgm:prSet presAssocID="{53D91C5C-7861-45FE-B4BA-B41D495B398F}" presName="sibTrans" presStyleCnt="0"/>
      <dgm:spPr/>
    </dgm:pt>
    <dgm:pt modelId="{48F00BF5-9FE3-42B4-A22B-43298837BBCD}" type="pres">
      <dgm:prSet presAssocID="{B0E8C957-80B2-404E-98B7-25DFAAC570E4}" presName="compNode" presStyleCnt="0"/>
      <dgm:spPr/>
    </dgm:pt>
    <dgm:pt modelId="{AFB38608-F93B-4B2B-BFCF-7C4C6F3F5056}" type="pres">
      <dgm:prSet presAssocID="{B0E8C957-80B2-404E-98B7-25DFAAC570E4}" presName="iconBgRect" presStyleLbl="bgShp" presStyleIdx="4" presStyleCnt="5"/>
      <dgm:spPr/>
    </dgm:pt>
    <dgm:pt modelId="{FEAB2F82-31FB-4C31-9930-39F27AB8264A}" type="pres">
      <dgm:prSet presAssocID="{B0E8C957-80B2-404E-98B7-25DFAAC570E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0CC54BB5-9BA9-44AE-BAF7-DFC646D7AAA4}" type="pres">
      <dgm:prSet presAssocID="{B0E8C957-80B2-404E-98B7-25DFAAC570E4}" presName="spaceRect" presStyleCnt="0"/>
      <dgm:spPr/>
    </dgm:pt>
    <dgm:pt modelId="{A9F2BB91-E2FF-4BE4-9B54-2848E69F6DC2}" type="pres">
      <dgm:prSet presAssocID="{B0E8C957-80B2-404E-98B7-25DFAAC570E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3E4A317-975C-41B2-9858-6D7ED8E3AD1B}" type="presOf" srcId="{0CD833AB-EA19-498D-BE67-E21638D0234E}" destId="{7A521590-C0DB-46D5-B2DB-AA57CD928831}" srcOrd="0" destOrd="0" presId="urn:microsoft.com/office/officeart/2018/5/layout/IconCircleLabelList"/>
    <dgm:cxn modelId="{77378F26-0504-4A9C-A635-1172025D55BA}" srcId="{0CD833AB-EA19-498D-BE67-E21638D0234E}" destId="{02BD1269-27A4-4B37-A0B7-B84A627D676E}" srcOrd="3" destOrd="0" parTransId="{6E7AAEF6-5ADC-412E-A713-AAD2FF3C5046}" sibTransId="{53D91C5C-7861-45FE-B4BA-B41D495B398F}"/>
    <dgm:cxn modelId="{A04B124A-B6F3-4A7F-9A9F-03B73FEBCCF9}" type="presOf" srcId="{3C2D2BD7-E534-414D-A4BE-4AA1D3B3B8CF}" destId="{02EC5F4B-F79D-4996-899C-D8A3E0E9C4BB}" srcOrd="0" destOrd="0" presId="urn:microsoft.com/office/officeart/2018/5/layout/IconCircleLabelList"/>
    <dgm:cxn modelId="{6EB97350-3B2F-4B4F-BF0C-56AF9F188145}" type="presOf" srcId="{02BD1269-27A4-4B37-A0B7-B84A627D676E}" destId="{9F03CE0B-6D05-4F2C-8526-890420B50807}" srcOrd="0" destOrd="0" presId="urn:microsoft.com/office/officeart/2018/5/layout/IconCircleLabelList"/>
    <dgm:cxn modelId="{E493DE87-E1B8-4353-94F7-AD592C7C78F6}" type="presOf" srcId="{B0E8C957-80B2-404E-98B7-25DFAAC570E4}" destId="{A9F2BB91-E2FF-4BE4-9B54-2848E69F6DC2}" srcOrd="0" destOrd="0" presId="urn:microsoft.com/office/officeart/2018/5/layout/IconCircleLabelList"/>
    <dgm:cxn modelId="{CB541297-1246-432D-873B-0F5A1473DDD6}" srcId="{0CD833AB-EA19-498D-BE67-E21638D0234E}" destId="{B0E8C957-80B2-404E-98B7-25DFAAC570E4}" srcOrd="4" destOrd="0" parTransId="{2FAEEC9C-C543-4772-94BB-D686B9F68606}" sibTransId="{C8202E37-EF5E-42E0-8049-F24EEC7034BE}"/>
    <dgm:cxn modelId="{2E1935A8-6083-44FF-B5F2-38E5A6F9A5CB}" srcId="{0CD833AB-EA19-498D-BE67-E21638D0234E}" destId="{3535EB55-C991-48F7-96C9-C043010954B8}" srcOrd="0" destOrd="0" parTransId="{A5AAA52A-9DEC-473B-9FA0-703623DA631C}" sibTransId="{D32BDD5A-BFDA-493D-B65C-B8B757B02D14}"/>
    <dgm:cxn modelId="{BFAEC7BC-DED3-42EF-AD52-E75F38F73EA6}" srcId="{0CD833AB-EA19-498D-BE67-E21638D0234E}" destId="{3C2D2BD7-E534-414D-A4BE-4AA1D3B3B8CF}" srcOrd="1" destOrd="0" parTransId="{7897B2B7-CD6C-4916-BC85-537ACF709469}" sibTransId="{46EF3065-B97F-40A2-8870-F72F66717AEB}"/>
    <dgm:cxn modelId="{158A5EDC-2D7B-4705-A046-7E8921E90AAF}" type="presOf" srcId="{3535EB55-C991-48F7-96C9-C043010954B8}" destId="{1129BE69-0A07-4FB4-A714-7E4755BCBA63}" srcOrd="0" destOrd="0" presId="urn:microsoft.com/office/officeart/2018/5/layout/IconCircleLabelList"/>
    <dgm:cxn modelId="{967463DE-B819-4B20-A937-93E88814B361}" type="presOf" srcId="{6D2B9F8C-E7EF-4B3C-BAA5-86B3B6179FF6}" destId="{3EF6DFDD-00DF-49AB-8237-B61E0BD172D9}" srcOrd="0" destOrd="0" presId="urn:microsoft.com/office/officeart/2018/5/layout/IconCircleLabelList"/>
    <dgm:cxn modelId="{B30BFAEA-4D8E-401D-89ED-BFFEF1051092}" srcId="{0CD833AB-EA19-498D-BE67-E21638D0234E}" destId="{6D2B9F8C-E7EF-4B3C-BAA5-86B3B6179FF6}" srcOrd="2" destOrd="0" parTransId="{1E933A0A-E665-4444-A625-E66F91CA9B4A}" sibTransId="{213BA6F8-5B02-415F-BF64-2ECDA9391765}"/>
    <dgm:cxn modelId="{D347CDCE-1237-42F7-89F6-5A457BE067C6}" type="presParOf" srcId="{7A521590-C0DB-46D5-B2DB-AA57CD928831}" destId="{0830D87A-0DC1-4C41-AC1B-9AE46887A11F}" srcOrd="0" destOrd="0" presId="urn:microsoft.com/office/officeart/2018/5/layout/IconCircleLabelList"/>
    <dgm:cxn modelId="{CF14FE9F-AA72-4A57-8CCB-091900597A99}" type="presParOf" srcId="{0830D87A-0DC1-4C41-AC1B-9AE46887A11F}" destId="{FF444ABF-80CA-43A8-A2A7-FAFA18C40ED9}" srcOrd="0" destOrd="0" presId="urn:microsoft.com/office/officeart/2018/5/layout/IconCircleLabelList"/>
    <dgm:cxn modelId="{FEE8F428-A356-451C-A843-2B9A51059668}" type="presParOf" srcId="{0830D87A-0DC1-4C41-AC1B-9AE46887A11F}" destId="{DFC4C786-982A-4F70-8FBC-D731F05AF3B9}" srcOrd="1" destOrd="0" presId="urn:microsoft.com/office/officeart/2018/5/layout/IconCircleLabelList"/>
    <dgm:cxn modelId="{7739ECAC-A22B-4154-8642-4ACCDCF08AC1}" type="presParOf" srcId="{0830D87A-0DC1-4C41-AC1B-9AE46887A11F}" destId="{74B2578B-6DAF-4EC0-B9C4-B91FA8067077}" srcOrd="2" destOrd="0" presId="urn:microsoft.com/office/officeart/2018/5/layout/IconCircleLabelList"/>
    <dgm:cxn modelId="{397FE0CE-B3BC-43CE-B012-9DA53D787A28}" type="presParOf" srcId="{0830D87A-0DC1-4C41-AC1B-9AE46887A11F}" destId="{1129BE69-0A07-4FB4-A714-7E4755BCBA63}" srcOrd="3" destOrd="0" presId="urn:microsoft.com/office/officeart/2018/5/layout/IconCircleLabelList"/>
    <dgm:cxn modelId="{1AC6FB70-EF4D-4DA6-9251-92A3FFB4F578}" type="presParOf" srcId="{7A521590-C0DB-46D5-B2DB-AA57CD928831}" destId="{84CF4DB9-100A-4116-91ED-81E47DC4A806}" srcOrd="1" destOrd="0" presId="urn:microsoft.com/office/officeart/2018/5/layout/IconCircleLabelList"/>
    <dgm:cxn modelId="{13870991-F32C-4634-99ED-C17B1F2F5E5D}" type="presParOf" srcId="{7A521590-C0DB-46D5-B2DB-AA57CD928831}" destId="{F739AFF0-F1A0-4F9D-B112-085EFD5A83DC}" srcOrd="2" destOrd="0" presId="urn:microsoft.com/office/officeart/2018/5/layout/IconCircleLabelList"/>
    <dgm:cxn modelId="{CCEDFA5D-7CC7-479D-B851-1180531786F1}" type="presParOf" srcId="{F739AFF0-F1A0-4F9D-B112-085EFD5A83DC}" destId="{A1174698-C1E4-44F8-9D64-EEF6C74C6874}" srcOrd="0" destOrd="0" presId="urn:microsoft.com/office/officeart/2018/5/layout/IconCircleLabelList"/>
    <dgm:cxn modelId="{F5663100-1FEC-4BDC-82EF-903E605BCBA5}" type="presParOf" srcId="{F739AFF0-F1A0-4F9D-B112-085EFD5A83DC}" destId="{31B607CB-1497-4212-B51E-98FF533884BB}" srcOrd="1" destOrd="0" presId="urn:microsoft.com/office/officeart/2018/5/layout/IconCircleLabelList"/>
    <dgm:cxn modelId="{604E2B1E-A183-43F3-B37B-D266EBD5AF9E}" type="presParOf" srcId="{F739AFF0-F1A0-4F9D-B112-085EFD5A83DC}" destId="{E78D6FD0-5853-418D-B4A9-C4482C58668E}" srcOrd="2" destOrd="0" presId="urn:microsoft.com/office/officeart/2018/5/layout/IconCircleLabelList"/>
    <dgm:cxn modelId="{B564CCFB-8261-443D-B508-1CF25A5AD05B}" type="presParOf" srcId="{F739AFF0-F1A0-4F9D-B112-085EFD5A83DC}" destId="{02EC5F4B-F79D-4996-899C-D8A3E0E9C4BB}" srcOrd="3" destOrd="0" presId="urn:microsoft.com/office/officeart/2018/5/layout/IconCircleLabelList"/>
    <dgm:cxn modelId="{852166EC-C802-4210-8DAF-2C7110F1F189}" type="presParOf" srcId="{7A521590-C0DB-46D5-B2DB-AA57CD928831}" destId="{477AD6F8-6AEB-40A2-AAAC-E3C02962169D}" srcOrd="3" destOrd="0" presId="urn:microsoft.com/office/officeart/2018/5/layout/IconCircleLabelList"/>
    <dgm:cxn modelId="{C496BF96-9D9A-4A1B-901B-CB3B970D1574}" type="presParOf" srcId="{7A521590-C0DB-46D5-B2DB-AA57CD928831}" destId="{86BAD505-513C-4ECD-8721-097E0CF6E54F}" srcOrd="4" destOrd="0" presId="urn:microsoft.com/office/officeart/2018/5/layout/IconCircleLabelList"/>
    <dgm:cxn modelId="{7C869908-53E6-483D-BED8-B3B3E08618BC}" type="presParOf" srcId="{86BAD505-513C-4ECD-8721-097E0CF6E54F}" destId="{B72FFAA8-F838-4F31-B6E8-3F5F237C2F55}" srcOrd="0" destOrd="0" presId="urn:microsoft.com/office/officeart/2018/5/layout/IconCircleLabelList"/>
    <dgm:cxn modelId="{D73D6A00-F01E-4143-A8CB-D56CBC643CCA}" type="presParOf" srcId="{86BAD505-513C-4ECD-8721-097E0CF6E54F}" destId="{A2F08F32-F22A-49CA-A803-1DA84B6C11A5}" srcOrd="1" destOrd="0" presId="urn:microsoft.com/office/officeart/2018/5/layout/IconCircleLabelList"/>
    <dgm:cxn modelId="{2810036F-166E-432B-A789-B3CCF6304173}" type="presParOf" srcId="{86BAD505-513C-4ECD-8721-097E0CF6E54F}" destId="{99C554C8-DF80-4EBD-AC69-132B4EBB0E46}" srcOrd="2" destOrd="0" presId="urn:microsoft.com/office/officeart/2018/5/layout/IconCircleLabelList"/>
    <dgm:cxn modelId="{4AD9239E-04F5-4F6C-B7EA-9CFB2EA27AE2}" type="presParOf" srcId="{86BAD505-513C-4ECD-8721-097E0CF6E54F}" destId="{3EF6DFDD-00DF-49AB-8237-B61E0BD172D9}" srcOrd="3" destOrd="0" presId="urn:microsoft.com/office/officeart/2018/5/layout/IconCircleLabelList"/>
    <dgm:cxn modelId="{C41360C5-EA90-4A7F-A79A-DDDB5C06494F}" type="presParOf" srcId="{7A521590-C0DB-46D5-B2DB-AA57CD928831}" destId="{A2BF8BB6-CEB4-4E99-939E-AE58DA28790B}" srcOrd="5" destOrd="0" presId="urn:microsoft.com/office/officeart/2018/5/layout/IconCircleLabelList"/>
    <dgm:cxn modelId="{1E877BF0-9BBC-495A-8D03-B2A9CF49CF5E}" type="presParOf" srcId="{7A521590-C0DB-46D5-B2DB-AA57CD928831}" destId="{13E99D19-6059-44CE-89F5-2A484604D670}" srcOrd="6" destOrd="0" presId="urn:microsoft.com/office/officeart/2018/5/layout/IconCircleLabelList"/>
    <dgm:cxn modelId="{6FBFAE95-56D5-4064-A8C0-04ACF94F8865}" type="presParOf" srcId="{13E99D19-6059-44CE-89F5-2A484604D670}" destId="{7B799A1A-6F2D-425C-B45D-B08172224DAC}" srcOrd="0" destOrd="0" presId="urn:microsoft.com/office/officeart/2018/5/layout/IconCircleLabelList"/>
    <dgm:cxn modelId="{A515997F-D1F9-464A-8184-24D100F09880}" type="presParOf" srcId="{13E99D19-6059-44CE-89F5-2A484604D670}" destId="{D3DCD54A-6675-4430-938B-03B2201C779B}" srcOrd="1" destOrd="0" presId="urn:microsoft.com/office/officeart/2018/5/layout/IconCircleLabelList"/>
    <dgm:cxn modelId="{84069972-3EC7-4BC7-AD65-EBAF6127F79F}" type="presParOf" srcId="{13E99D19-6059-44CE-89F5-2A484604D670}" destId="{75AD9483-CF09-4281-B3FE-7916D2A670A9}" srcOrd="2" destOrd="0" presId="urn:microsoft.com/office/officeart/2018/5/layout/IconCircleLabelList"/>
    <dgm:cxn modelId="{90A2F7B0-EAD4-42D7-B228-CEA2BF405A73}" type="presParOf" srcId="{13E99D19-6059-44CE-89F5-2A484604D670}" destId="{9F03CE0B-6D05-4F2C-8526-890420B50807}" srcOrd="3" destOrd="0" presId="urn:microsoft.com/office/officeart/2018/5/layout/IconCircleLabelList"/>
    <dgm:cxn modelId="{26A079EE-C1A1-4B81-9713-2D4CF4137F15}" type="presParOf" srcId="{7A521590-C0DB-46D5-B2DB-AA57CD928831}" destId="{907D5509-CD04-45BD-AA71-7DB7513F46AF}" srcOrd="7" destOrd="0" presId="urn:microsoft.com/office/officeart/2018/5/layout/IconCircleLabelList"/>
    <dgm:cxn modelId="{A2FBB3C7-4BAE-4188-8208-B51D6516D998}" type="presParOf" srcId="{7A521590-C0DB-46D5-B2DB-AA57CD928831}" destId="{48F00BF5-9FE3-42B4-A22B-43298837BBCD}" srcOrd="8" destOrd="0" presId="urn:microsoft.com/office/officeart/2018/5/layout/IconCircleLabelList"/>
    <dgm:cxn modelId="{71562F33-F63B-453E-BCFB-E4BB9644D611}" type="presParOf" srcId="{48F00BF5-9FE3-42B4-A22B-43298837BBCD}" destId="{AFB38608-F93B-4B2B-BFCF-7C4C6F3F5056}" srcOrd="0" destOrd="0" presId="urn:microsoft.com/office/officeart/2018/5/layout/IconCircleLabelList"/>
    <dgm:cxn modelId="{136F7848-5960-4930-927C-03491B3E4CBF}" type="presParOf" srcId="{48F00BF5-9FE3-42B4-A22B-43298837BBCD}" destId="{FEAB2F82-31FB-4C31-9930-39F27AB8264A}" srcOrd="1" destOrd="0" presId="urn:microsoft.com/office/officeart/2018/5/layout/IconCircleLabelList"/>
    <dgm:cxn modelId="{13D1083F-D715-443E-B121-E02FEEB73AEE}" type="presParOf" srcId="{48F00BF5-9FE3-42B4-A22B-43298837BBCD}" destId="{0CC54BB5-9BA9-44AE-BAF7-DFC646D7AAA4}" srcOrd="2" destOrd="0" presId="urn:microsoft.com/office/officeart/2018/5/layout/IconCircleLabelList"/>
    <dgm:cxn modelId="{CC213E87-5B44-491C-BE56-B3510724D868}" type="presParOf" srcId="{48F00BF5-9FE3-42B4-A22B-43298837BBCD}" destId="{A9F2BB91-E2FF-4BE4-9B54-2848E69F6DC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B03A4F-3241-402A-99D7-F782209D76C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426729AA-17EE-43BB-AF60-8E5F12D09AF9}">
      <dgm:prSet/>
      <dgm:spPr/>
      <dgm:t>
        <a:bodyPr/>
        <a:lstStyle/>
        <a:p>
          <a:pPr>
            <a:defRPr cap="all"/>
          </a:pPr>
          <a:r>
            <a:rPr lang="en-US"/>
            <a:t>Two map dots show hospitals 2 000 km apart; dual selection drives every chart.</a:t>
          </a:r>
        </a:p>
      </dgm:t>
    </dgm:pt>
    <dgm:pt modelId="{8971B90E-01D6-420D-98BC-1322E2F8178A}" type="parTrans" cxnId="{2257AD44-FB15-4581-BD09-FEF017BEDD94}">
      <dgm:prSet/>
      <dgm:spPr/>
      <dgm:t>
        <a:bodyPr/>
        <a:lstStyle/>
        <a:p>
          <a:endParaRPr lang="en-US"/>
        </a:p>
      </dgm:t>
    </dgm:pt>
    <dgm:pt modelId="{2C1F32FC-EFD8-4EB2-B02A-35B4974A6834}" type="sibTrans" cxnId="{2257AD44-FB15-4581-BD09-FEF017BEDD94}">
      <dgm:prSet/>
      <dgm:spPr/>
      <dgm:t>
        <a:bodyPr/>
        <a:lstStyle/>
        <a:p>
          <a:endParaRPr lang="en-US"/>
        </a:p>
      </dgm:t>
    </dgm:pt>
    <dgm:pt modelId="{55F2BBFC-ADA7-4072-A1C7-1887A8437340}">
      <dgm:prSet/>
      <dgm:spPr/>
      <dgm:t>
        <a:bodyPr/>
        <a:lstStyle/>
        <a:p>
          <a:pPr>
            <a:defRPr cap="all"/>
          </a:pPr>
          <a:r>
            <a:rPr lang="en-US"/>
            <a:t>Green Valley runs slightly higher staff counts than Riverdale for similar beds.</a:t>
          </a:r>
        </a:p>
      </dgm:t>
    </dgm:pt>
    <dgm:pt modelId="{FE9E002F-DBDF-450B-B4B1-854EC17128DE}" type="parTrans" cxnId="{296EFBD2-F737-4E43-A3D5-50C3EC25946A}">
      <dgm:prSet/>
      <dgm:spPr/>
      <dgm:t>
        <a:bodyPr/>
        <a:lstStyle/>
        <a:p>
          <a:endParaRPr lang="en-US"/>
        </a:p>
      </dgm:t>
    </dgm:pt>
    <dgm:pt modelId="{BDCB6D2F-E0A6-46DC-A3CF-B6FFD5534081}" type="sibTrans" cxnId="{296EFBD2-F737-4E43-A3D5-50C3EC25946A}">
      <dgm:prSet/>
      <dgm:spPr/>
      <dgm:t>
        <a:bodyPr/>
        <a:lstStyle/>
        <a:p>
          <a:endParaRPr lang="en-US"/>
        </a:p>
      </dgm:t>
    </dgm:pt>
    <dgm:pt modelId="{AC0B7A86-2E13-4A90-96AE-B0B1E6172457}">
      <dgm:prSet/>
      <dgm:spPr/>
      <dgm:t>
        <a:bodyPr/>
        <a:lstStyle/>
        <a:p>
          <a:pPr>
            <a:defRPr cap="all"/>
          </a:pPr>
          <a:r>
            <a:rPr lang="en-US"/>
            <a:t>Daily combo chart: Green Valley peaks at 2 100 active patients vs 1 900 staff.</a:t>
          </a:r>
        </a:p>
      </dgm:t>
    </dgm:pt>
    <dgm:pt modelId="{7DA9736C-C797-4D4F-AFD1-A8E29D64A663}" type="parTrans" cxnId="{73E4E84C-9B1C-4A01-8B0E-5EBB7F606050}">
      <dgm:prSet/>
      <dgm:spPr/>
      <dgm:t>
        <a:bodyPr/>
        <a:lstStyle/>
        <a:p>
          <a:endParaRPr lang="en-US"/>
        </a:p>
      </dgm:t>
    </dgm:pt>
    <dgm:pt modelId="{F8585FFD-A0F6-4A4D-8D9F-AD2B242A86DC}" type="sibTrans" cxnId="{73E4E84C-9B1C-4A01-8B0E-5EBB7F606050}">
      <dgm:prSet/>
      <dgm:spPr/>
      <dgm:t>
        <a:bodyPr/>
        <a:lstStyle/>
        <a:p>
          <a:endParaRPr lang="en-US"/>
        </a:p>
      </dgm:t>
    </dgm:pt>
    <dgm:pt modelId="{01A56D02-B153-47C2-B0D0-435EBDE7ABEB}">
      <dgm:prSet/>
      <dgm:spPr/>
      <dgm:t>
        <a:bodyPr/>
        <a:lstStyle/>
        <a:p>
          <a:pPr>
            <a:defRPr cap="all"/>
          </a:pPr>
          <a:r>
            <a:rPr lang="en-US"/>
            <a:t>Quarterly averages: GV bed utilisation 92 %, Riverdale 85 %.</a:t>
          </a:r>
        </a:p>
      </dgm:t>
    </dgm:pt>
    <dgm:pt modelId="{FAB09809-009A-42E8-9430-04912DAA2273}" type="parTrans" cxnId="{7357602A-DD7B-408C-8042-AA09D4321344}">
      <dgm:prSet/>
      <dgm:spPr/>
      <dgm:t>
        <a:bodyPr/>
        <a:lstStyle/>
        <a:p>
          <a:endParaRPr lang="en-US"/>
        </a:p>
      </dgm:t>
    </dgm:pt>
    <dgm:pt modelId="{2DBEFC58-7F05-4A40-9CDD-AE1411AA5370}" type="sibTrans" cxnId="{7357602A-DD7B-408C-8042-AA09D4321344}">
      <dgm:prSet/>
      <dgm:spPr/>
      <dgm:t>
        <a:bodyPr/>
        <a:lstStyle/>
        <a:p>
          <a:endParaRPr lang="en-US"/>
        </a:p>
      </dgm:t>
    </dgm:pt>
    <dgm:pt modelId="{F83F3BA6-32C2-4680-8CF4-CC28298CAFEB}">
      <dgm:prSet/>
      <dgm:spPr/>
      <dgm:t>
        <a:bodyPr/>
        <a:lstStyle/>
        <a:p>
          <a:pPr>
            <a:defRPr cap="all"/>
          </a:pPr>
          <a:r>
            <a:rPr lang="en-US"/>
            <a:t>Insight: Float nursing pool can shift 5 % capacity from GV to Riverdale on busy weeks.</a:t>
          </a:r>
        </a:p>
      </dgm:t>
    </dgm:pt>
    <dgm:pt modelId="{9213F836-A63F-40DE-B7D9-1609B6243ABE}" type="parTrans" cxnId="{44544CFF-DE73-40CE-B9EA-EB39A41A9922}">
      <dgm:prSet/>
      <dgm:spPr/>
      <dgm:t>
        <a:bodyPr/>
        <a:lstStyle/>
        <a:p>
          <a:endParaRPr lang="en-US"/>
        </a:p>
      </dgm:t>
    </dgm:pt>
    <dgm:pt modelId="{D564DE18-D9DD-4E7D-B142-EC6BAC52539E}" type="sibTrans" cxnId="{44544CFF-DE73-40CE-B9EA-EB39A41A9922}">
      <dgm:prSet/>
      <dgm:spPr/>
      <dgm:t>
        <a:bodyPr/>
        <a:lstStyle/>
        <a:p>
          <a:endParaRPr lang="en-US"/>
        </a:p>
      </dgm:t>
    </dgm:pt>
    <dgm:pt modelId="{CD093997-204C-4A85-959C-0CF564FADC0E}" type="pres">
      <dgm:prSet presAssocID="{D0B03A4F-3241-402A-99D7-F782209D76CF}" presName="root" presStyleCnt="0">
        <dgm:presLayoutVars>
          <dgm:dir/>
          <dgm:resizeHandles val="exact"/>
        </dgm:presLayoutVars>
      </dgm:prSet>
      <dgm:spPr/>
    </dgm:pt>
    <dgm:pt modelId="{1CAE9AF7-4E3E-464B-93F8-5953DA07A1C9}" type="pres">
      <dgm:prSet presAssocID="{426729AA-17EE-43BB-AF60-8E5F12D09AF9}" presName="compNode" presStyleCnt="0"/>
      <dgm:spPr/>
    </dgm:pt>
    <dgm:pt modelId="{B36CCB12-FB6D-4924-B1A8-345DDAE31C54}" type="pres">
      <dgm:prSet presAssocID="{426729AA-17EE-43BB-AF60-8E5F12D09AF9}" presName="iconBgRect" presStyleLbl="bgShp" presStyleIdx="0" presStyleCnt="5"/>
      <dgm:spPr/>
    </dgm:pt>
    <dgm:pt modelId="{FCAF5236-5B82-4761-8C87-BF7A7774FBE6}" type="pres">
      <dgm:prSet presAssocID="{426729AA-17EE-43BB-AF60-8E5F12D09AF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ass"/>
        </a:ext>
      </dgm:extLst>
    </dgm:pt>
    <dgm:pt modelId="{1AA7A36F-E283-4BB5-8E01-E97AF1839824}" type="pres">
      <dgm:prSet presAssocID="{426729AA-17EE-43BB-AF60-8E5F12D09AF9}" presName="spaceRect" presStyleCnt="0"/>
      <dgm:spPr/>
    </dgm:pt>
    <dgm:pt modelId="{A05FDAD1-FC2C-424B-A7E1-B53A75B64134}" type="pres">
      <dgm:prSet presAssocID="{426729AA-17EE-43BB-AF60-8E5F12D09AF9}" presName="textRect" presStyleLbl="revTx" presStyleIdx="0" presStyleCnt="5">
        <dgm:presLayoutVars>
          <dgm:chMax val="1"/>
          <dgm:chPref val="1"/>
        </dgm:presLayoutVars>
      </dgm:prSet>
      <dgm:spPr/>
    </dgm:pt>
    <dgm:pt modelId="{38074DF4-7EDF-4F01-8917-E41DB91563E3}" type="pres">
      <dgm:prSet presAssocID="{2C1F32FC-EFD8-4EB2-B02A-35B4974A6834}" presName="sibTrans" presStyleCnt="0"/>
      <dgm:spPr/>
    </dgm:pt>
    <dgm:pt modelId="{589E92DB-659B-4ADB-BC6A-9888A33E7582}" type="pres">
      <dgm:prSet presAssocID="{55F2BBFC-ADA7-4072-A1C7-1887A8437340}" presName="compNode" presStyleCnt="0"/>
      <dgm:spPr/>
    </dgm:pt>
    <dgm:pt modelId="{7E14DA68-E668-446A-BF87-DF52BFA35BBD}" type="pres">
      <dgm:prSet presAssocID="{55F2BBFC-ADA7-4072-A1C7-1887A8437340}" presName="iconBgRect" presStyleLbl="bgShp" presStyleIdx="1" presStyleCnt="5"/>
      <dgm:spPr/>
    </dgm:pt>
    <dgm:pt modelId="{A01FDEA1-C551-48CD-9C26-A9D58EC8EC71}" type="pres">
      <dgm:prSet presAssocID="{55F2BBFC-ADA7-4072-A1C7-1887A843734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FB7BC61A-6AFF-4090-ADCD-FB89FE18CADE}" type="pres">
      <dgm:prSet presAssocID="{55F2BBFC-ADA7-4072-A1C7-1887A8437340}" presName="spaceRect" presStyleCnt="0"/>
      <dgm:spPr/>
    </dgm:pt>
    <dgm:pt modelId="{EBF12B39-C249-44CD-B3BA-3222D5E5A7FB}" type="pres">
      <dgm:prSet presAssocID="{55F2BBFC-ADA7-4072-A1C7-1887A8437340}" presName="textRect" presStyleLbl="revTx" presStyleIdx="1" presStyleCnt="5">
        <dgm:presLayoutVars>
          <dgm:chMax val="1"/>
          <dgm:chPref val="1"/>
        </dgm:presLayoutVars>
      </dgm:prSet>
      <dgm:spPr/>
    </dgm:pt>
    <dgm:pt modelId="{EE1176B5-4B40-4699-A645-EE713F90C7FF}" type="pres">
      <dgm:prSet presAssocID="{BDCB6D2F-E0A6-46DC-A3CF-B6FFD5534081}" presName="sibTrans" presStyleCnt="0"/>
      <dgm:spPr/>
    </dgm:pt>
    <dgm:pt modelId="{A385DBC6-C85D-4099-8154-8DDA89D67FD9}" type="pres">
      <dgm:prSet presAssocID="{AC0B7A86-2E13-4A90-96AE-B0B1E6172457}" presName="compNode" presStyleCnt="0"/>
      <dgm:spPr/>
    </dgm:pt>
    <dgm:pt modelId="{DF3F38B8-723C-43F7-8118-349A00C005A7}" type="pres">
      <dgm:prSet presAssocID="{AC0B7A86-2E13-4A90-96AE-B0B1E6172457}" presName="iconBgRect" presStyleLbl="bgShp" presStyleIdx="2" presStyleCnt="5"/>
      <dgm:spPr/>
    </dgm:pt>
    <dgm:pt modelId="{8526B175-8837-4D56-9E40-44ECC8A88192}" type="pres">
      <dgm:prSet presAssocID="{AC0B7A86-2E13-4A90-96AE-B0B1E617245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FB26317-54B8-49B4-8355-0D25EDE95D7E}" type="pres">
      <dgm:prSet presAssocID="{AC0B7A86-2E13-4A90-96AE-B0B1E6172457}" presName="spaceRect" presStyleCnt="0"/>
      <dgm:spPr/>
    </dgm:pt>
    <dgm:pt modelId="{F8164AF1-1CF4-4C1B-A7CE-6E704F52E256}" type="pres">
      <dgm:prSet presAssocID="{AC0B7A86-2E13-4A90-96AE-B0B1E6172457}" presName="textRect" presStyleLbl="revTx" presStyleIdx="2" presStyleCnt="5">
        <dgm:presLayoutVars>
          <dgm:chMax val="1"/>
          <dgm:chPref val="1"/>
        </dgm:presLayoutVars>
      </dgm:prSet>
      <dgm:spPr/>
    </dgm:pt>
    <dgm:pt modelId="{6367234C-BFC9-4338-8F2B-975751EF0B99}" type="pres">
      <dgm:prSet presAssocID="{F8585FFD-A0F6-4A4D-8D9F-AD2B242A86DC}" presName="sibTrans" presStyleCnt="0"/>
      <dgm:spPr/>
    </dgm:pt>
    <dgm:pt modelId="{74261675-1B3C-4A32-8437-09314F78B117}" type="pres">
      <dgm:prSet presAssocID="{01A56D02-B153-47C2-B0D0-435EBDE7ABEB}" presName="compNode" presStyleCnt="0"/>
      <dgm:spPr/>
    </dgm:pt>
    <dgm:pt modelId="{5DC8523B-E840-4A6E-8D7B-6F6C99EE6B49}" type="pres">
      <dgm:prSet presAssocID="{01A56D02-B153-47C2-B0D0-435EBDE7ABEB}" presName="iconBgRect" presStyleLbl="bgShp" presStyleIdx="3" presStyleCnt="5"/>
      <dgm:spPr/>
    </dgm:pt>
    <dgm:pt modelId="{893EA09B-05EF-4805-A1C0-B443B2D4B90A}" type="pres">
      <dgm:prSet presAssocID="{01A56D02-B153-47C2-B0D0-435EBDE7ABE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d"/>
        </a:ext>
      </dgm:extLst>
    </dgm:pt>
    <dgm:pt modelId="{4F2522AF-C060-4ACD-B2E2-BEBA3D70E726}" type="pres">
      <dgm:prSet presAssocID="{01A56D02-B153-47C2-B0D0-435EBDE7ABEB}" presName="spaceRect" presStyleCnt="0"/>
      <dgm:spPr/>
    </dgm:pt>
    <dgm:pt modelId="{24585835-49EE-4D06-90FE-527E93D33B42}" type="pres">
      <dgm:prSet presAssocID="{01A56D02-B153-47C2-B0D0-435EBDE7ABEB}" presName="textRect" presStyleLbl="revTx" presStyleIdx="3" presStyleCnt="5">
        <dgm:presLayoutVars>
          <dgm:chMax val="1"/>
          <dgm:chPref val="1"/>
        </dgm:presLayoutVars>
      </dgm:prSet>
      <dgm:spPr/>
    </dgm:pt>
    <dgm:pt modelId="{3ADAD102-DD9E-4F26-8947-B66BE3EAA722}" type="pres">
      <dgm:prSet presAssocID="{2DBEFC58-7F05-4A40-9CDD-AE1411AA5370}" presName="sibTrans" presStyleCnt="0"/>
      <dgm:spPr/>
    </dgm:pt>
    <dgm:pt modelId="{E215E47E-15B7-4828-A26F-E069FE2E3761}" type="pres">
      <dgm:prSet presAssocID="{F83F3BA6-32C2-4680-8CF4-CC28298CAFEB}" presName="compNode" presStyleCnt="0"/>
      <dgm:spPr/>
    </dgm:pt>
    <dgm:pt modelId="{6A4DC834-B123-45CA-9104-9FFFBB0FF9F8}" type="pres">
      <dgm:prSet presAssocID="{F83F3BA6-32C2-4680-8CF4-CC28298CAFEB}" presName="iconBgRect" presStyleLbl="bgShp" presStyleIdx="4" presStyleCnt="5"/>
      <dgm:spPr/>
    </dgm:pt>
    <dgm:pt modelId="{6D4D88DA-016E-42DF-B851-3DE273EE9B5F}" type="pres">
      <dgm:prSet presAssocID="{F83F3BA6-32C2-4680-8CF4-CC28298CAFE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fe ring"/>
        </a:ext>
      </dgm:extLst>
    </dgm:pt>
    <dgm:pt modelId="{1B9F60EE-0360-4C02-AD9C-110C7BDEC50D}" type="pres">
      <dgm:prSet presAssocID="{F83F3BA6-32C2-4680-8CF4-CC28298CAFEB}" presName="spaceRect" presStyleCnt="0"/>
      <dgm:spPr/>
    </dgm:pt>
    <dgm:pt modelId="{932C9ED9-E833-4E0F-95C3-AAC6A0B884F3}" type="pres">
      <dgm:prSet presAssocID="{F83F3BA6-32C2-4680-8CF4-CC28298CAFE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868ED0C-01CB-4A48-A876-1CC3EB015184}" type="presOf" srcId="{D0B03A4F-3241-402A-99D7-F782209D76CF}" destId="{CD093997-204C-4A85-959C-0CF564FADC0E}" srcOrd="0" destOrd="0" presId="urn:microsoft.com/office/officeart/2018/5/layout/IconCircleLabelList"/>
    <dgm:cxn modelId="{7357602A-DD7B-408C-8042-AA09D4321344}" srcId="{D0B03A4F-3241-402A-99D7-F782209D76CF}" destId="{01A56D02-B153-47C2-B0D0-435EBDE7ABEB}" srcOrd="3" destOrd="0" parTransId="{FAB09809-009A-42E8-9430-04912DAA2273}" sibTransId="{2DBEFC58-7F05-4A40-9CDD-AE1411AA5370}"/>
    <dgm:cxn modelId="{2257AD44-FB15-4581-BD09-FEF017BEDD94}" srcId="{D0B03A4F-3241-402A-99D7-F782209D76CF}" destId="{426729AA-17EE-43BB-AF60-8E5F12D09AF9}" srcOrd="0" destOrd="0" parTransId="{8971B90E-01D6-420D-98BC-1322E2F8178A}" sibTransId="{2C1F32FC-EFD8-4EB2-B02A-35B4974A6834}"/>
    <dgm:cxn modelId="{C71C8246-09C1-4E86-BF79-54A151DCD46E}" type="presOf" srcId="{01A56D02-B153-47C2-B0D0-435EBDE7ABEB}" destId="{24585835-49EE-4D06-90FE-527E93D33B42}" srcOrd="0" destOrd="0" presId="urn:microsoft.com/office/officeart/2018/5/layout/IconCircleLabelList"/>
    <dgm:cxn modelId="{73E4E84C-9B1C-4A01-8B0E-5EBB7F606050}" srcId="{D0B03A4F-3241-402A-99D7-F782209D76CF}" destId="{AC0B7A86-2E13-4A90-96AE-B0B1E6172457}" srcOrd="2" destOrd="0" parTransId="{7DA9736C-C797-4D4F-AFD1-A8E29D64A663}" sibTransId="{F8585FFD-A0F6-4A4D-8D9F-AD2B242A86DC}"/>
    <dgm:cxn modelId="{31EC9254-B7ED-4525-99C9-117E21F144CF}" type="presOf" srcId="{55F2BBFC-ADA7-4072-A1C7-1887A8437340}" destId="{EBF12B39-C249-44CD-B3BA-3222D5E5A7FB}" srcOrd="0" destOrd="0" presId="urn:microsoft.com/office/officeart/2018/5/layout/IconCircleLabelList"/>
    <dgm:cxn modelId="{D167FE5C-8085-4532-B40C-86A997442ECF}" type="presOf" srcId="{426729AA-17EE-43BB-AF60-8E5F12D09AF9}" destId="{A05FDAD1-FC2C-424B-A7E1-B53A75B64134}" srcOrd="0" destOrd="0" presId="urn:microsoft.com/office/officeart/2018/5/layout/IconCircleLabelList"/>
    <dgm:cxn modelId="{548060A3-DA19-4751-A6D4-1BB85B8F6647}" type="presOf" srcId="{F83F3BA6-32C2-4680-8CF4-CC28298CAFEB}" destId="{932C9ED9-E833-4E0F-95C3-AAC6A0B884F3}" srcOrd="0" destOrd="0" presId="urn:microsoft.com/office/officeart/2018/5/layout/IconCircleLabelList"/>
    <dgm:cxn modelId="{296EFBD2-F737-4E43-A3D5-50C3EC25946A}" srcId="{D0B03A4F-3241-402A-99D7-F782209D76CF}" destId="{55F2BBFC-ADA7-4072-A1C7-1887A8437340}" srcOrd="1" destOrd="0" parTransId="{FE9E002F-DBDF-450B-B4B1-854EC17128DE}" sibTransId="{BDCB6D2F-E0A6-46DC-A3CF-B6FFD5534081}"/>
    <dgm:cxn modelId="{2EFA13EF-CF86-4679-8DF1-8563B5F2766A}" type="presOf" srcId="{AC0B7A86-2E13-4A90-96AE-B0B1E6172457}" destId="{F8164AF1-1CF4-4C1B-A7CE-6E704F52E256}" srcOrd="0" destOrd="0" presId="urn:microsoft.com/office/officeart/2018/5/layout/IconCircleLabelList"/>
    <dgm:cxn modelId="{44544CFF-DE73-40CE-B9EA-EB39A41A9922}" srcId="{D0B03A4F-3241-402A-99D7-F782209D76CF}" destId="{F83F3BA6-32C2-4680-8CF4-CC28298CAFEB}" srcOrd="4" destOrd="0" parTransId="{9213F836-A63F-40DE-B7D9-1609B6243ABE}" sibTransId="{D564DE18-D9DD-4E7D-B142-EC6BAC52539E}"/>
    <dgm:cxn modelId="{83D6C818-D82A-40A8-AB56-90E1120DC165}" type="presParOf" srcId="{CD093997-204C-4A85-959C-0CF564FADC0E}" destId="{1CAE9AF7-4E3E-464B-93F8-5953DA07A1C9}" srcOrd="0" destOrd="0" presId="urn:microsoft.com/office/officeart/2018/5/layout/IconCircleLabelList"/>
    <dgm:cxn modelId="{CABF99D3-7F40-400B-A15A-26AC79314C35}" type="presParOf" srcId="{1CAE9AF7-4E3E-464B-93F8-5953DA07A1C9}" destId="{B36CCB12-FB6D-4924-B1A8-345DDAE31C54}" srcOrd="0" destOrd="0" presId="urn:microsoft.com/office/officeart/2018/5/layout/IconCircleLabelList"/>
    <dgm:cxn modelId="{894CFB77-584C-477A-A0D2-6F6919C2C6E5}" type="presParOf" srcId="{1CAE9AF7-4E3E-464B-93F8-5953DA07A1C9}" destId="{FCAF5236-5B82-4761-8C87-BF7A7774FBE6}" srcOrd="1" destOrd="0" presId="urn:microsoft.com/office/officeart/2018/5/layout/IconCircleLabelList"/>
    <dgm:cxn modelId="{39838B0D-91AA-4A1A-96C5-E83A51B56AFA}" type="presParOf" srcId="{1CAE9AF7-4E3E-464B-93F8-5953DA07A1C9}" destId="{1AA7A36F-E283-4BB5-8E01-E97AF1839824}" srcOrd="2" destOrd="0" presId="urn:microsoft.com/office/officeart/2018/5/layout/IconCircleLabelList"/>
    <dgm:cxn modelId="{6550EAEC-B8C6-43FC-BA16-7AD3CEE07F1D}" type="presParOf" srcId="{1CAE9AF7-4E3E-464B-93F8-5953DA07A1C9}" destId="{A05FDAD1-FC2C-424B-A7E1-B53A75B64134}" srcOrd="3" destOrd="0" presId="urn:microsoft.com/office/officeart/2018/5/layout/IconCircleLabelList"/>
    <dgm:cxn modelId="{EFEA1DB4-2B47-4567-BC03-EF3F25867991}" type="presParOf" srcId="{CD093997-204C-4A85-959C-0CF564FADC0E}" destId="{38074DF4-7EDF-4F01-8917-E41DB91563E3}" srcOrd="1" destOrd="0" presId="urn:microsoft.com/office/officeart/2018/5/layout/IconCircleLabelList"/>
    <dgm:cxn modelId="{7027F617-3254-4F6A-878F-E71B03F8BA86}" type="presParOf" srcId="{CD093997-204C-4A85-959C-0CF564FADC0E}" destId="{589E92DB-659B-4ADB-BC6A-9888A33E7582}" srcOrd="2" destOrd="0" presId="urn:microsoft.com/office/officeart/2018/5/layout/IconCircleLabelList"/>
    <dgm:cxn modelId="{18C2515A-3162-437D-95F0-C511D3705192}" type="presParOf" srcId="{589E92DB-659B-4ADB-BC6A-9888A33E7582}" destId="{7E14DA68-E668-446A-BF87-DF52BFA35BBD}" srcOrd="0" destOrd="0" presId="urn:microsoft.com/office/officeart/2018/5/layout/IconCircleLabelList"/>
    <dgm:cxn modelId="{38967C9F-BFC5-4A14-9C48-85062C39428D}" type="presParOf" srcId="{589E92DB-659B-4ADB-BC6A-9888A33E7582}" destId="{A01FDEA1-C551-48CD-9C26-A9D58EC8EC71}" srcOrd="1" destOrd="0" presId="urn:microsoft.com/office/officeart/2018/5/layout/IconCircleLabelList"/>
    <dgm:cxn modelId="{4968077A-1E06-4AAE-8D07-2C2C5ECB2726}" type="presParOf" srcId="{589E92DB-659B-4ADB-BC6A-9888A33E7582}" destId="{FB7BC61A-6AFF-4090-ADCD-FB89FE18CADE}" srcOrd="2" destOrd="0" presId="urn:microsoft.com/office/officeart/2018/5/layout/IconCircleLabelList"/>
    <dgm:cxn modelId="{9369F2B1-38AE-41B6-99EE-6076FE71C935}" type="presParOf" srcId="{589E92DB-659B-4ADB-BC6A-9888A33E7582}" destId="{EBF12B39-C249-44CD-B3BA-3222D5E5A7FB}" srcOrd="3" destOrd="0" presId="urn:microsoft.com/office/officeart/2018/5/layout/IconCircleLabelList"/>
    <dgm:cxn modelId="{BE65983C-9EB6-40B9-B847-15EBACD72F51}" type="presParOf" srcId="{CD093997-204C-4A85-959C-0CF564FADC0E}" destId="{EE1176B5-4B40-4699-A645-EE713F90C7FF}" srcOrd="3" destOrd="0" presId="urn:microsoft.com/office/officeart/2018/5/layout/IconCircleLabelList"/>
    <dgm:cxn modelId="{CD213EDC-2055-4A5D-843D-CF88DB2BD8CF}" type="presParOf" srcId="{CD093997-204C-4A85-959C-0CF564FADC0E}" destId="{A385DBC6-C85D-4099-8154-8DDA89D67FD9}" srcOrd="4" destOrd="0" presId="urn:microsoft.com/office/officeart/2018/5/layout/IconCircleLabelList"/>
    <dgm:cxn modelId="{5CE9A847-EA1E-4E30-BA64-AAEAE03DC1ED}" type="presParOf" srcId="{A385DBC6-C85D-4099-8154-8DDA89D67FD9}" destId="{DF3F38B8-723C-43F7-8118-349A00C005A7}" srcOrd="0" destOrd="0" presId="urn:microsoft.com/office/officeart/2018/5/layout/IconCircleLabelList"/>
    <dgm:cxn modelId="{816EB164-9E25-4E9A-93E5-7B9220F5ABC0}" type="presParOf" srcId="{A385DBC6-C85D-4099-8154-8DDA89D67FD9}" destId="{8526B175-8837-4D56-9E40-44ECC8A88192}" srcOrd="1" destOrd="0" presId="urn:microsoft.com/office/officeart/2018/5/layout/IconCircleLabelList"/>
    <dgm:cxn modelId="{0B05EE14-3371-4D1A-8CF5-05D7C09A97BB}" type="presParOf" srcId="{A385DBC6-C85D-4099-8154-8DDA89D67FD9}" destId="{5FB26317-54B8-49B4-8355-0D25EDE95D7E}" srcOrd="2" destOrd="0" presId="urn:microsoft.com/office/officeart/2018/5/layout/IconCircleLabelList"/>
    <dgm:cxn modelId="{B5C49974-AD3B-454B-B3EA-E57DFC68FFA8}" type="presParOf" srcId="{A385DBC6-C85D-4099-8154-8DDA89D67FD9}" destId="{F8164AF1-1CF4-4C1B-A7CE-6E704F52E256}" srcOrd="3" destOrd="0" presId="urn:microsoft.com/office/officeart/2018/5/layout/IconCircleLabelList"/>
    <dgm:cxn modelId="{EB817090-DF5D-4169-8EFB-9315D28D8CB8}" type="presParOf" srcId="{CD093997-204C-4A85-959C-0CF564FADC0E}" destId="{6367234C-BFC9-4338-8F2B-975751EF0B99}" srcOrd="5" destOrd="0" presId="urn:microsoft.com/office/officeart/2018/5/layout/IconCircleLabelList"/>
    <dgm:cxn modelId="{6CD24BC7-05BB-4E51-B9AF-5C2510B79456}" type="presParOf" srcId="{CD093997-204C-4A85-959C-0CF564FADC0E}" destId="{74261675-1B3C-4A32-8437-09314F78B117}" srcOrd="6" destOrd="0" presId="urn:microsoft.com/office/officeart/2018/5/layout/IconCircleLabelList"/>
    <dgm:cxn modelId="{CBF2E506-5344-4FA6-97D6-4EE7ECA5E610}" type="presParOf" srcId="{74261675-1B3C-4A32-8437-09314F78B117}" destId="{5DC8523B-E840-4A6E-8D7B-6F6C99EE6B49}" srcOrd="0" destOrd="0" presId="urn:microsoft.com/office/officeart/2018/5/layout/IconCircleLabelList"/>
    <dgm:cxn modelId="{8B77CA41-F982-4365-9AC2-714E09A669AD}" type="presParOf" srcId="{74261675-1B3C-4A32-8437-09314F78B117}" destId="{893EA09B-05EF-4805-A1C0-B443B2D4B90A}" srcOrd="1" destOrd="0" presId="urn:microsoft.com/office/officeart/2018/5/layout/IconCircleLabelList"/>
    <dgm:cxn modelId="{F6F70E2B-3865-47E8-8260-6693A538CFC6}" type="presParOf" srcId="{74261675-1B3C-4A32-8437-09314F78B117}" destId="{4F2522AF-C060-4ACD-B2E2-BEBA3D70E726}" srcOrd="2" destOrd="0" presId="urn:microsoft.com/office/officeart/2018/5/layout/IconCircleLabelList"/>
    <dgm:cxn modelId="{F35DBBAE-06EF-4A25-85BC-6B2A3BB1FB7A}" type="presParOf" srcId="{74261675-1B3C-4A32-8437-09314F78B117}" destId="{24585835-49EE-4D06-90FE-527E93D33B42}" srcOrd="3" destOrd="0" presId="urn:microsoft.com/office/officeart/2018/5/layout/IconCircleLabelList"/>
    <dgm:cxn modelId="{2E5E5DED-8D04-419D-8FCD-FD802B2D76DA}" type="presParOf" srcId="{CD093997-204C-4A85-959C-0CF564FADC0E}" destId="{3ADAD102-DD9E-4F26-8947-B66BE3EAA722}" srcOrd="7" destOrd="0" presId="urn:microsoft.com/office/officeart/2018/5/layout/IconCircleLabelList"/>
    <dgm:cxn modelId="{8398484E-E3E9-402E-937A-C4B0FBD614CD}" type="presParOf" srcId="{CD093997-204C-4A85-959C-0CF564FADC0E}" destId="{E215E47E-15B7-4828-A26F-E069FE2E3761}" srcOrd="8" destOrd="0" presId="urn:microsoft.com/office/officeart/2018/5/layout/IconCircleLabelList"/>
    <dgm:cxn modelId="{547DB501-9964-49A3-B294-77C390D980BE}" type="presParOf" srcId="{E215E47E-15B7-4828-A26F-E069FE2E3761}" destId="{6A4DC834-B123-45CA-9104-9FFFBB0FF9F8}" srcOrd="0" destOrd="0" presId="urn:microsoft.com/office/officeart/2018/5/layout/IconCircleLabelList"/>
    <dgm:cxn modelId="{D5688BC5-46FA-40B8-BF6A-4F0324B3629B}" type="presParOf" srcId="{E215E47E-15B7-4828-A26F-E069FE2E3761}" destId="{6D4D88DA-016E-42DF-B851-3DE273EE9B5F}" srcOrd="1" destOrd="0" presId="urn:microsoft.com/office/officeart/2018/5/layout/IconCircleLabelList"/>
    <dgm:cxn modelId="{F1C157B5-71D2-4A0D-81FB-50CBCDBA2BFE}" type="presParOf" srcId="{E215E47E-15B7-4828-A26F-E069FE2E3761}" destId="{1B9F60EE-0360-4C02-AD9C-110C7BDEC50D}" srcOrd="2" destOrd="0" presId="urn:microsoft.com/office/officeart/2018/5/layout/IconCircleLabelList"/>
    <dgm:cxn modelId="{28EB9CA9-BDDB-4C5A-9C57-E28EA2565C9F}" type="presParOf" srcId="{E215E47E-15B7-4828-A26F-E069FE2E3761}" destId="{932C9ED9-E833-4E0F-95C3-AAC6A0B884F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4403DB3-5E30-4B23-8998-E635138148C1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1E20D2A-9EE5-4CA0-8B3E-BE7EA1ED3ED7}">
      <dgm:prSet/>
      <dgm:spPr/>
      <dgm:t>
        <a:bodyPr/>
        <a:lstStyle/>
        <a:p>
          <a:r>
            <a:rPr lang="en-US"/>
            <a:t>City Hospital (East) + Green Valley (West) compared side‑by‑side.</a:t>
          </a:r>
        </a:p>
      </dgm:t>
    </dgm:pt>
    <dgm:pt modelId="{9F6C11CD-8DA0-4468-AFEB-959AE7528C3B}" type="parTrans" cxnId="{8B8D7ADB-A0F8-499B-85E8-4F02ABFE0C64}">
      <dgm:prSet/>
      <dgm:spPr/>
      <dgm:t>
        <a:bodyPr/>
        <a:lstStyle/>
        <a:p>
          <a:endParaRPr lang="en-US"/>
        </a:p>
      </dgm:t>
    </dgm:pt>
    <dgm:pt modelId="{1F6D5BD8-55AA-49B2-B4EC-30E64DD3FFB5}" type="sibTrans" cxnId="{8B8D7ADB-A0F8-499B-85E8-4F02ABFE0C64}">
      <dgm:prSet/>
      <dgm:spPr/>
      <dgm:t>
        <a:bodyPr/>
        <a:lstStyle/>
        <a:p>
          <a:endParaRPr lang="en-US"/>
        </a:p>
      </dgm:t>
    </dgm:pt>
    <dgm:pt modelId="{E5DEE8AB-FF47-43C6-82D9-6022BEC69154}">
      <dgm:prSet/>
      <dgm:spPr/>
      <dgm:t>
        <a:bodyPr/>
        <a:lstStyle/>
        <a:p>
          <a:r>
            <a:rPr lang="en-US"/>
            <a:t>City’s admissions spike mid‑month; beds max out → discharge process slower.</a:t>
          </a:r>
        </a:p>
      </dgm:t>
    </dgm:pt>
    <dgm:pt modelId="{65588BA8-6BEF-484D-AD73-F6A90F66FFA9}" type="parTrans" cxnId="{BBB07EAB-0A06-4A34-A4A2-8223355313C4}">
      <dgm:prSet/>
      <dgm:spPr/>
      <dgm:t>
        <a:bodyPr/>
        <a:lstStyle/>
        <a:p>
          <a:endParaRPr lang="en-US"/>
        </a:p>
      </dgm:t>
    </dgm:pt>
    <dgm:pt modelId="{42DFF918-181C-42A7-B5EE-2CDD7AC72580}" type="sibTrans" cxnId="{BBB07EAB-0A06-4A34-A4A2-8223355313C4}">
      <dgm:prSet/>
      <dgm:spPr/>
      <dgm:t>
        <a:bodyPr/>
        <a:lstStyle/>
        <a:p>
          <a:endParaRPr lang="en-US"/>
        </a:p>
      </dgm:t>
    </dgm:pt>
    <dgm:pt modelId="{40B58B1B-D097-4B37-BEB6-368D60D41084}">
      <dgm:prSet/>
      <dgm:spPr/>
      <dgm:t>
        <a:bodyPr/>
        <a:lstStyle/>
        <a:p>
          <a:r>
            <a:rPr lang="en-US"/>
            <a:t>Green Valley steadier; potential to absorb City overflow (transfer bar confirms).</a:t>
          </a:r>
        </a:p>
      </dgm:t>
    </dgm:pt>
    <dgm:pt modelId="{B4BF9975-9CCB-4214-A248-811A775800A5}" type="parTrans" cxnId="{0000C95C-CA24-4587-9122-6FD752ACCA60}">
      <dgm:prSet/>
      <dgm:spPr/>
      <dgm:t>
        <a:bodyPr/>
        <a:lstStyle/>
        <a:p>
          <a:endParaRPr lang="en-US"/>
        </a:p>
      </dgm:t>
    </dgm:pt>
    <dgm:pt modelId="{15852FF2-DAF0-4A6B-8FE0-EFA8D5598062}" type="sibTrans" cxnId="{0000C95C-CA24-4587-9122-6FD752ACCA60}">
      <dgm:prSet/>
      <dgm:spPr/>
      <dgm:t>
        <a:bodyPr/>
        <a:lstStyle/>
        <a:p>
          <a:endParaRPr lang="en-US"/>
        </a:p>
      </dgm:t>
    </dgm:pt>
    <dgm:pt modelId="{C260BEE6-89EA-4C25-B0C6-A8E68AD2BF8B}">
      <dgm:prSet/>
      <dgm:spPr/>
      <dgm:t>
        <a:bodyPr/>
        <a:lstStyle/>
        <a:p>
          <a:r>
            <a:rPr lang="en-US"/>
            <a:t>Staff line shows City under‑staffed (ratio 1 : 28) on day 26 – alert trigger.</a:t>
          </a:r>
        </a:p>
      </dgm:t>
    </dgm:pt>
    <dgm:pt modelId="{0A24FBB6-BDFC-426F-9B4C-AB5DE306F7BF}" type="parTrans" cxnId="{68F82F5A-9F79-4E21-9EBF-818062A59381}">
      <dgm:prSet/>
      <dgm:spPr/>
      <dgm:t>
        <a:bodyPr/>
        <a:lstStyle/>
        <a:p>
          <a:endParaRPr lang="en-US"/>
        </a:p>
      </dgm:t>
    </dgm:pt>
    <dgm:pt modelId="{1AF592EE-E006-466B-BD40-DE2D31175528}" type="sibTrans" cxnId="{68F82F5A-9F79-4E21-9EBF-818062A59381}">
      <dgm:prSet/>
      <dgm:spPr/>
      <dgm:t>
        <a:bodyPr/>
        <a:lstStyle/>
        <a:p>
          <a:endParaRPr lang="en-US"/>
        </a:p>
      </dgm:t>
    </dgm:pt>
    <dgm:pt modelId="{F21F2EE1-BA9A-48A5-90E3-F05CB5B8FEF5}">
      <dgm:prSet/>
      <dgm:spPr/>
      <dgm:t>
        <a:bodyPr/>
        <a:lstStyle/>
        <a:p>
          <a:r>
            <a:rPr lang="en-US"/>
            <a:t>Strategic: re‑allocate 50 staff from GV night shift to City day shift next surge.</a:t>
          </a:r>
        </a:p>
      </dgm:t>
    </dgm:pt>
    <dgm:pt modelId="{11501E4E-7236-4114-AD39-14351E3C25AA}" type="parTrans" cxnId="{BFD252A6-6492-4AFB-A0C5-3DC4F52EF061}">
      <dgm:prSet/>
      <dgm:spPr/>
      <dgm:t>
        <a:bodyPr/>
        <a:lstStyle/>
        <a:p>
          <a:endParaRPr lang="en-US"/>
        </a:p>
      </dgm:t>
    </dgm:pt>
    <dgm:pt modelId="{5FC24292-B74A-49F6-96EB-1AAFDC09A2B5}" type="sibTrans" cxnId="{BFD252A6-6492-4AFB-A0C5-3DC4F52EF061}">
      <dgm:prSet/>
      <dgm:spPr/>
      <dgm:t>
        <a:bodyPr/>
        <a:lstStyle/>
        <a:p>
          <a:endParaRPr lang="en-US"/>
        </a:p>
      </dgm:t>
    </dgm:pt>
    <dgm:pt modelId="{3B792ABD-7F71-5245-82F8-AFB3F6245E9D}" type="pres">
      <dgm:prSet presAssocID="{A4403DB3-5E30-4B23-8998-E635138148C1}" presName="diagram" presStyleCnt="0">
        <dgm:presLayoutVars>
          <dgm:dir/>
          <dgm:resizeHandles val="exact"/>
        </dgm:presLayoutVars>
      </dgm:prSet>
      <dgm:spPr/>
    </dgm:pt>
    <dgm:pt modelId="{658E8D8C-89ED-8D4A-9448-456048C5CA0E}" type="pres">
      <dgm:prSet presAssocID="{F1E20D2A-9EE5-4CA0-8B3E-BE7EA1ED3ED7}" presName="node" presStyleLbl="node1" presStyleIdx="0" presStyleCnt="5">
        <dgm:presLayoutVars>
          <dgm:bulletEnabled val="1"/>
        </dgm:presLayoutVars>
      </dgm:prSet>
      <dgm:spPr/>
    </dgm:pt>
    <dgm:pt modelId="{FE787983-BF8D-444B-AFD6-87378EB2D6A7}" type="pres">
      <dgm:prSet presAssocID="{1F6D5BD8-55AA-49B2-B4EC-30E64DD3FFB5}" presName="sibTrans" presStyleCnt="0"/>
      <dgm:spPr/>
    </dgm:pt>
    <dgm:pt modelId="{468BA1E9-A61A-E94D-A351-654BEDF799AC}" type="pres">
      <dgm:prSet presAssocID="{E5DEE8AB-FF47-43C6-82D9-6022BEC69154}" presName="node" presStyleLbl="node1" presStyleIdx="1" presStyleCnt="5">
        <dgm:presLayoutVars>
          <dgm:bulletEnabled val="1"/>
        </dgm:presLayoutVars>
      </dgm:prSet>
      <dgm:spPr/>
    </dgm:pt>
    <dgm:pt modelId="{82FC18E5-B88F-9041-A3AF-DCBA80E7AC8E}" type="pres">
      <dgm:prSet presAssocID="{42DFF918-181C-42A7-B5EE-2CDD7AC72580}" presName="sibTrans" presStyleCnt="0"/>
      <dgm:spPr/>
    </dgm:pt>
    <dgm:pt modelId="{0559D96B-4275-394B-81A6-E291682AF7A6}" type="pres">
      <dgm:prSet presAssocID="{40B58B1B-D097-4B37-BEB6-368D60D41084}" presName="node" presStyleLbl="node1" presStyleIdx="2" presStyleCnt="5">
        <dgm:presLayoutVars>
          <dgm:bulletEnabled val="1"/>
        </dgm:presLayoutVars>
      </dgm:prSet>
      <dgm:spPr/>
    </dgm:pt>
    <dgm:pt modelId="{81708724-8891-C246-93D4-E5E6EB80E953}" type="pres">
      <dgm:prSet presAssocID="{15852FF2-DAF0-4A6B-8FE0-EFA8D5598062}" presName="sibTrans" presStyleCnt="0"/>
      <dgm:spPr/>
    </dgm:pt>
    <dgm:pt modelId="{D8415275-82AB-E04F-9C81-C3F6155ECBD7}" type="pres">
      <dgm:prSet presAssocID="{C260BEE6-89EA-4C25-B0C6-A8E68AD2BF8B}" presName="node" presStyleLbl="node1" presStyleIdx="3" presStyleCnt="5">
        <dgm:presLayoutVars>
          <dgm:bulletEnabled val="1"/>
        </dgm:presLayoutVars>
      </dgm:prSet>
      <dgm:spPr/>
    </dgm:pt>
    <dgm:pt modelId="{99DF6A46-26BA-D641-B6EC-B4DDF9B596B0}" type="pres">
      <dgm:prSet presAssocID="{1AF592EE-E006-466B-BD40-DE2D31175528}" presName="sibTrans" presStyleCnt="0"/>
      <dgm:spPr/>
    </dgm:pt>
    <dgm:pt modelId="{4F30E1A1-C15A-9541-85E3-13D7603C30C1}" type="pres">
      <dgm:prSet presAssocID="{F21F2EE1-BA9A-48A5-90E3-F05CB5B8FEF5}" presName="node" presStyleLbl="node1" presStyleIdx="4" presStyleCnt="5">
        <dgm:presLayoutVars>
          <dgm:bulletEnabled val="1"/>
        </dgm:presLayoutVars>
      </dgm:prSet>
      <dgm:spPr/>
    </dgm:pt>
  </dgm:ptLst>
  <dgm:cxnLst>
    <dgm:cxn modelId="{2DACA30E-77FF-F34C-BFBE-FA9807390BCF}" type="presOf" srcId="{E5DEE8AB-FF47-43C6-82D9-6022BEC69154}" destId="{468BA1E9-A61A-E94D-A351-654BEDF799AC}" srcOrd="0" destOrd="0" presId="urn:microsoft.com/office/officeart/2005/8/layout/default"/>
    <dgm:cxn modelId="{68F82F5A-9F79-4E21-9EBF-818062A59381}" srcId="{A4403DB3-5E30-4B23-8998-E635138148C1}" destId="{C260BEE6-89EA-4C25-B0C6-A8E68AD2BF8B}" srcOrd="3" destOrd="0" parTransId="{0A24FBB6-BDFC-426F-9B4C-AB5DE306F7BF}" sibTransId="{1AF592EE-E006-466B-BD40-DE2D31175528}"/>
    <dgm:cxn modelId="{F1FBB95C-D504-D34E-94A5-891D8ECA8635}" type="presOf" srcId="{A4403DB3-5E30-4B23-8998-E635138148C1}" destId="{3B792ABD-7F71-5245-82F8-AFB3F6245E9D}" srcOrd="0" destOrd="0" presId="urn:microsoft.com/office/officeart/2005/8/layout/default"/>
    <dgm:cxn modelId="{0000C95C-CA24-4587-9122-6FD752ACCA60}" srcId="{A4403DB3-5E30-4B23-8998-E635138148C1}" destId="{40B58B1B-D097-4B37-BEB6-368D60D41084}" srcOrd="2" destOrd="0" parTransId="{B4BF9975-9CCB-4214-A248-811A775800A5}" sibTransId="{15852FF2-DAF0-4A6B-8FE0-EFA8D5598062}"/>
    <dgm:cxn modelId="{9052FD5D-40DA-C945-96EB-86D2AC056027}" type="presOf" srcId="{F21F2EE1-BA9A-48A5-90E3-F05CB5B8FEF5}" destId="{4F30E1A1-C15A-9541-85E3-13D7603C30C1}" srcOrd="0" destOrd="0" presId="urn:microsoft.com/office/officeart/2005/8/layout/default"/>
    <dgm:cxn modelId="{005D087B-D9E7-694F-B568-BB90C6329E3E}" type="presOf" srcId="{40B58B1B-D097-4B37-BEB6-368D60D41084}" destId="{0559D96B-4275-394B-81A6-E291682AF7A6}" srcOrd="0" destOrd="0" presId="urn:microsoft.com/office/officeart/2005/8/layout/default"/>
    <dgm:cxn modelId="{BFD252A6-6492-4AFB-A0C5-3DC4F52EF061}" srcId="{A4403DB3-5E30-4B23-8998-E635138148C1}" destId="{F21F2EE1-BA9A-48A5-90E3-F05CB5B8FEF5}" srcOrd="4" destOrd="0" parTransId="{11501E4E-7236-4114-AD39-14351E3C25AA}" sibTransId="{5FC24292-B74A-49F6-96EB-1AAFDC09A2B5}"/>
    <dgm:cxn modelId="{BBB07EAB-0A06-4A34-A4A2-8223355313C4}" srcId="{A4403DB3-5E30-4B23-8998-E635138148C1}" destId="{E5DEE8AB-FF47-43C6-82D9-6022BEC69154}" srcOrd="1" destOrd="0" parTransId="{65588BA8-6BEF-484D-AD73-F6A90F66FFA9}" sibTransId="{42DFF918-181C-42A7-B5EE-2CDD7AC72580}"/>
    <dgm:cxn modelId="{5C457DB3-676C-1A47-BC92-85A1C6D5C373}" type="presOf" srcId="{F1E20D2A-9EE5-4CA0-8B3E-BE7EA1ED3ED7}" destId="{658E8D8C-89ED-8D4A-9448-456048C5CA0E}" srcOrd="0" destOrd="0" presId="urn:microsoft.com/office/officeart/2005/8/layout/default"/>
    <dgm:cxn modelId="{A0415BD7-A7E5-A649-8A82-08F3F53AACB0}" type="presOf" srcId="{C260BEE6-89EA-4C25-B0C6-A8E68AD2BF8B}" destId="{D8415275-82AB-E04F-9C81-C3F6155ECBD7}" srcOrd="0" destOrd="0" presId="urn:microsoft.com/office/officeart/2005/8/layout/default"/>
    <dgm:cxn modelId="{8B8D7ADB-A0F8-499B-85E8-4F02ABFE0C64}" srcId="{A4403DB3-5E30-4B23-8998-E635138148C1}" destId="{F1E20D2A-9EE5-4CA0-8B3E-BE7EA1ED3ED7}" srcOrd="0" destOrd="0" parTransId="{9F6C11CD-8DA0-4468-AFEB-959AE7528C3B}" sibTransId="{1F6D5BD8-55AA-49B2-B4EC-30E64DD3FFB5}"/>
    <dgm:cxn modelId="{EA70A76E-68A9-9147-83A7-FBEE3F032C83}" type="presParOf" srcId="{3B792ABD-7F71-5245-82F8-AFB3F6245E9D}" destId="{658E8D8C-89ED-8D4A-9448-456048C5CA0E}" srcOrd="0" destOrd="0" presId="urn:microsoft.com/office/officeart/2005/8/layout/default"/>
    <dgm:cxn modelId="{65D1603A-644C-9C40-A556-FFF764E5622F}" type="presParOf" srcId="{3B792ABD-7F71-5245-82F8-AFB3F6245E9D}" destId="{FE787983-BF8D-444B-AFD6-87378EB2D6A7}" srcOrd="1" destOrd="0" presId="urn:microsoft.com/office/officeart/2005/8/layout/default"/>
    <dgm:cxn modelId="{CAFBEE39-FAE7-1943-8F6A-9659F7A52442}" type="presParOf" srcId="{3B792ABD-7F71-5245-82F8-AFB3F6245E9D}" destId="{468BA1E9-A61A-E94D-A351-654BEDF799AC}" srcOrd="2" destOrd="0" presId="urn:microsoft.com/office/officeart/2005/8/layout/default"/>
    <dgm:cxn modelId="{59AF9785-C15C-094E-B486-D1D367F1974B}" type="presParOf" srcId="{3B792ABD-7F71-5245-82F8-AFB3F6245E9D}" destId="{82FC18E5-B88F-9041-A3AF-DCBA80E7AC8E}" srcOrd="3" destOrd="0" presId="urn:microsoft.com/office/officeart/2005/8/layout/default"/>
    <dgm:cxn modelId="{1BEB50C1-0A57-764F-8BD6-C384C33BC485}" type="presParOf" srcId="{3B792ABD-7F71-5245-82F8-AFB3F6245E9D}" destId="{0559D96B-4275-394B-81A6-E291682AF7A6}" srcOrd="4" destOrd="0" presId="urn:microsoft.com/office/officeart/2005/8/layout/default"/>
    <dgm:cxn modelId="{C4FAB7ED-0B56-CA4F-BBA8-9C419B8B1829}" type="presParOf" srcId="{3B792ABD-7F71-5245-82F8-AFB3F6245E9D}" destId="{81708724-8891-C246-93D4-E5E6EB80E953}" srcOrd="5" destOrd="0" presId="urn:microsoft.com/office/officeart/2005/8/layout/default"/>
    <dgm:cxn modelId="{C830A9C3-85E1-2C4A-958D-B0947D974F94}" type="presParOf" srcId="{3B792ABD-7F71-5245-82F8-AFB3F6245E9D}" destId="{D8415275-82AB-E04F-9C81-C3F6155ECBD7}" srcOrd="6" destOrd="0" presId="urn:microsoft.com/office/officeart/2005/8/layout/default"/>
    <dgm:cxn modelId="{F022EF3B-1D8B-0040-94FF-580DE938B184}" type="presParOf" srcId="{3B792ABD-7F71-5245-82F8-AFB3F6245E9D}" destId="{99DF6A46-26BA-D641-B6EC-B4DDF9B596B0}" srcOrd="7" destOrd="0" presId="urn:microsoft.com/office/officeart/2005/8/layout/default"/>
    <dgm:cxn modelId="{70E9888C-9B09-0247-B8F6-F488057F98C6}" type="presParOf" srcId="{3B792ABD-7F71-5245-82F8-AFB3F6245E9D}" destId="{4F30E1A1-C15A-9541-85E3-13D7603C30C1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B12059C-D236-47F9-8EE0-F9101168518B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B08DF72-3E1D-41CA-84B8-95E1B8E081A3}">
      <dgm:prSet/>
      <dgm:spPr/>
      <dgm:t>
        <a:bodyPr/>
        <a:lstStyle/>
        <a:p>
          <a:r>
            <a:rPr lang="en-US"/>
            <a:t>Single‑facility deep dive on City Hospital in New York region.</a:t>
          </a:r>
        </a:p>
      </dgm:t>
    </dgm:pt>
    <dgm:pt modelId="{9B2CECD5-2444-4FB7-97FF-5F6D104707A8}" type="parTrans" cxnId="{8F71B64B-845B-4676-8F75-72BE2D0AFAF8}">
      <dgm:prSet/>
      <dgm:spPr/>
      <dgm:t>
        <a:bodyPr/>
        <a:lstStyle/>
        <a:p>
          <a:endParaRPr lang="en-US"/>
        </a:p>
      </dgm:t>
    </dgm:pt>
    <dgm:pt modelId="{AA30D0B2-561D-4023-B254-AAC1C5835A33}" type="sibTrans" cxnId="{8F71B64B-845B-4676-8F75-72BE2D0AFAF8}">
      <dgm:prSet/>
      <dgm:spPr/>
      <dgm:t>
        <a:bodyPr/>
        <a:lstStyle/>
        <a:p>
          <a:endParaRPr lang="en-US"/>
        </a:p>
      </dgm:t>
    </dgm:pt>
    <dgm:pt modelId="{A10F0E82-56A7-43AD-A3FA-71808DE68F67}">
      <dgm:prSet/>
      <dgm:spPr/>
      <dgm:t>
        <a:bodyPr/>
        <a:lstStyle/>
        <a:p>
          <a:r>
            <a:rPr lang="en-US"/>
            <a:t>Quarterly averages show beds 31, staff 28 – but daily spikes hit 2 k active patients.</a:t>
          </a:r>
        </a:p>
      </dgm:t>
    </dgm:pt>
    <dgm:pt modelId="{CC1B043E-6A5F-4682-B01A-9A501AF769CC}" type="parTrans" cxnId="{4EF4A68E-1F29-494A-92E8-3D557918DCAF}">
      <dgm:prSet/>
      <dgm:spPr/>
      <dgm:t>
        <a:bodyPr/>
        <a:lstStyle/>
        <a:p>
          <a:endParaRPr lang="en-US"/>
        </a:p>
      </dgm:t>
    </dgm:pt>
    <dgm:pt modelId="{542601AA-10F1-44F7-A3C3-6EB005F8B518}" type="sibTrans" cxnId="{4EF4A68E-1F29-494A-92E8-3D557918DCAF}">
      <dgm:prSet/>
      <dgm:spPr/>
      <dgm:t>
        <a:bodyPr/>
        <a:lstStyle/>
        <a:p>
          <a:endParaRPr lang="en-US"/>
        </a:p>
      </dgm:t>
    </dgm:pt>
    <dgm:pt modelId="{7EF66420-DFB6-4F22-83D5-380985981B50}">
      <dgm:prSet/>
      <dgm:spPr/>
      <dgm:t>
        <a:bodyPr/>
        <a:lstStyle/>
        <a:p>
          <a:r>
            <a:rPr lang="en-US"/>
            <a:t>Bed occupancy lags admissions by ~10 % → discharge bottleneck in Physiotherapy ward.</a:t>
          </a:r>
        </a:p>
      </dgm:t>
    </dgm:pt>
    <dgm:pt modelId="{16A369C7-9E80-47D8-BA53-D00BD15BCC3E}" type="parTrans" cxnId="{4FA1F607-77DC-456B-9BDB-71B663340E6C}">
      <dgm:prSet/>
      <dgm:spPr/>
      <dgm:t>
        <a:bodyPr/>
        <a:lstStyle/>
        <a:p>
          <a:endParaRPr lang="en-US"/>
        </a:p>
      </dgm:t>
    </dgm:pt>
    <dgm:pt modelId="{F6C55BEC-5DA0-4B49-8740-B0EFB532CDCC}" type="sibTrans" cxnId="{4FA1F607-77DC-456B-9BDB-71B663340E6C}">
      <dgm:prSet/>
      <dgm:spPr/>
      <dgm:t>
        <a:bodyPr/>
        <a:lstStyle/>
        <a:p>
          <a:endParaRPr lang="en-US"/>
        </a:p>
      </dgm:t>
    </dgm:pt>
    <dgm:pt modelId="{8680CF7B-464E-4A08-BD8D-9016AAE19801}">
      <dgm:prSet/>
      <dgm:spPr/>
      <dgm:t>
        <a:bodyPr/>
        <a:lstStyle/>
        <a:p>
          <a:r>
            <a:rPr lang="en-US"/>
            <a:t>Treatment chart: Surgery cases highest admissions, Bed occupancy 80 %.</a:t>
          </a:r>
        </a:p>
      </dgm:t>
    </dgm:pt>
    <dgm:pt modelId="{18ED184D-4B43-4A03-8DDE-B9D17A702BBC}" type="parTrans" cxnId="{A0030DD9-7ED0-4B12-AB43-BFE7E8ECADB3}">
      <dgm:prSet/>
      <dgm:spPr/>
      <dgm:t>
        <a:bodyPr/>
        <a:lstStyle/>
        <a:p>
          <a:endParaRPr lang="en-US"/>
        </a:p>
      </dgm:t>
    </dgm:pt>
    <dgm:pt modelId="{F08F9A4B-EB1B-4F2D-A250-838D3A2B4753}" type="sibTrans" cxnId="{A0030DD9-7ED0-4B12-AB43-BFE7E8ECADB3}">
      <dgm:prSet/>
      <dgm:spPr/>
      <dgm:t>
        <a:bodyPr/>
        <a:lstStyle/>
        <a:p>
          <a:endParaRPr lang="en-US"/>
        </a:p>
      </dgm:t>
    </dgm:pt>
    <dgm:pt modelId="{C5A51982-AFEF-4BFF-B016-C160E9F711CB}">
      <dgm:prSet/>
      <dgm:spPr/>
      <dgm:t>
        <a:bodyPr/>
        <a:lstStyle/>
        <a:p>
          <a:r>
            <a:rPr lang="en-US"/>
            <a:t>Action: add weekend discharge rounds; consider 8 extra surgical beds.</a:t>
          </a:r>
        </a:p>
      </dgm:t>
    </dgm:pt>
    <dgm:pt modelId="{60B3CC63-5212-4B46-8EFA-082A2572AC29}" type="parTrans" cxnId="{1926E1CF-83B9-47E2-89A8-A7A6B4454E88}">
      <dgm:prSet/>
      <dgm:spPr/>
      <dgm:t>
        <a:bodyPr/>
        <a:lstStyle/>
        <a:p>
          <a:endParaRPr lang="en-US"/>
        </a:p>
      </dgm:t>
    </dgm:pt>
    <dgm:pt modelId="{F654164D-31DC-4FE2-AC95-5FB87E00AC3B}" type="sibTrans" cxnId="{1926E1CF-83B9-47E2-89A8-A7A6B4454E88}">
      <dgm:prSet/>
      <dgm:spPr/>
      <dgm:t>
        <a:bodyPr/>
        <a:lstStyle/>
        <a:p>
          <a:endParaRPr lang="en-US"/>
        </a:p>
      </dgm:t>
    </dgm:pt>
    <dgm:pt modelId="{1E8DFBAF-95C5-BB43-B629-23D402CBDFDC}" type="pres">
      <dgm:prSet presAssocID="{8B12059C-D236-47F9-8EE0-F9101168518B}" presName="diagram" presStyleCnt="0">
        <dgm:presLayoutVars>
          <dgm:dir/>
          <dgm:resizeHandles val="exact"/>
        </dgm:presLayoutVars>
      </dgm:prSet>
      <dgm:spPr/>
    </dgm:pt>
    <dgm:pt modelId="{DDC0A68B-E025-A04C-89B9-19D3818FB098}" type="pres">
      <dgm:prSet presAssocID="{8B08DF72-3E1D-41CA-84B8-95E1B8E081A3}" presName="node" presStyleLbl="node1" presStyleIdx="0" presStyleCnt="5">
        <dgm:presLayoutVars>
          <dgm:bulletEnabled val="1"/>
        </dgm:presLayoutVars>
      </dgm:prSet>
      <dgm:spPr/>
    </dgm:pt>
    <dgm:pt modelId="{3C252BE0-1263-5445-812F-0E6D7B9F6341}" type="pres">
      <dgm:prSet presAssocID="{AA30D0B2-561D-4023-B254-AAC1C5835A33}" presName="sibTrans" presStyleCnt="0"/>
      <dgm:spPr/>
    </dgm:pt>
    <dgm:pt modelId="{E60BA92D-0F07-1F4C-A458-95F771F84FEF}" type="pres">
      <dgm:prSet presAssocID="{A10F0E82-56A7-43AD-A3FA-71808DE68F67}" presName="node" presStyleLbl="node1" presStyleIdx="1" presStyleCnt="5">
        <dgm:presLayoutVars>
          <dgm:bulletEnabled val="1"/>
        </dgm:presLayoutVars>
      </dgm:prSet>
      <dgm:spPr/>
    </dgm:pt>
    <dgm:pt modelId="{2274D063-6AB0-3842-90CA-5408563BF921}" type="pres">
      <dgm:prSet presAssocID="{542601AA-10F1-44F7-A3C3-6EB005F8B518}" presName="sibTrans" presStyleCnt="0"/>
      <dgm:spPr/>
    </dgm:pt>
    <dgm:pt modelId="{AD07E702-498C-EE48-9F98-B94D9B5B8E1E}" type="pres">
      <dgm:prSet presAssocID="{7EF66420-DFB6-4F22-83D5-380985981B50}" presName="node" presStyleLbl="node1" presStyleIdx="2" presStyleCnt="5">
        <dgm:presLayoutVars>
          <dgm:bulletEnabled val="1"/>
        </dgm:presLayoutVars>
      </dgm:prSet>
      <dgm:spPr/>
    </dgm:pt>
    <dgm:pt modelId="{38676188-91CC-854F-8763-0DEB55CBF7CF}" type="pres">
      <dgm:prSet presAssocID="{F6C55BEC-5DA0-4B49-8740-B0EFB532CDCC}" presName="sibTrans" presStyleCnt="0"/>
      <dgm:spPr/>
    </dgm:pt>
    <dgm:pt modelId="{02F6CF65-0818-DC40-8FB3-642A3C0F278B}" type="pres">
      <dgm:prSet presAssocID="{8680CF7B-464E-4A08-BD8D-9016AAE19801}" presName="node" presStyleLbl="node1" presStyleIdx="3" presStyleCnt="5">
        <dgm:presLayoutVars>
          <dgm:bulletEnabled val="1"/>
        </dgm:presLayoutVars>
      </dgm:prSet>
      <dgm:spPr/>
    </dgm:pt>
    <dgm:pt modelId="{713F7BE0-1F1F-3041-AED9-2D984FB4C2C9}" type="pres">
      <dgm:prSet presAssocID="{F08F9A4B-EB1B-4F2D-A250-838D3A2B4753}" presName="sibTrans" presStyleCnt="0"/>
      <dgm:spPr/>
    </dgm:pt>
    <dgm:pt modelId="{F12226B5-0C20-FC4E-A052-1F8F4BE7B683}" type="pres">
      <dgm:prSet presAssocID="{C5A51982-AFEF-4BFF-B016-C160E9F711CB}" presName="node" presStyleLbl="node1" presStyleIdx="4" presStyleCnt="5">
        <dgm:presLayoutVars>
          <dgm:bulletEnabled val="1"/>
        </dgm:presLayoutVars>
      </dgm:prSet>
      <dgm:spPr/>
    </dgm:pt>
  </dgm:ptLst>
  <dgm:cxnLst>
    <dgm:cxn modelId="{4FA1F607-77DC-456B-9BDB-71B663340E6C}" srcId="{8B12059C-D236-47F9-8EE0-F9101168518B}" destId="{7EF66420-DFB6-4F22-83D5-380985981B50}" srcOrd="2" destOrd="0" parTransId="{16A369C7-9E80-47D8-BA53-D00BD15BCC3E}" sibTransId="{F6C55BEC-5DA0-4B49-8740-B0EFB532CDCC}"/>
    <dgm:cxn modelId="{8F71B64B-845B-4676-8F75-72BE2D0AFAF8}" srcId="{8B12059C-D236-47F9-8EE0-F9101168518B}" destId="{8B08DF72-3E1D-41CA-84B8-95E1B8E081A3}" srcOrd="0" destOrd="0" parTransId="{9B2CECD5-2444-4FB7-97FF-5F6D104707A8}" sibTransId="{AA30D0B2-561D-4023-B254-AAC1C5835A33}"/>
    <dgm:cxn modelId="{44998667-502A-8648-BEE5-DD0414805D1D}" type="presOf" srcId="{8B08DF72-3E1D-41CA-84B8-95E1B8E081A3}" destId="{DDC0A68B-E025-A04C-89B9-19D3818FB098}" srcOrd="0" destOrd="0" presId="urn:microsoft.com/office/officeart/2005/8/layout/default"/>
    <dgm:cxn modelId="{4EF4A68E-1F29-494A-92E8-3D557918DCAF}" srcId="{8B12059C-D236-47F9-8EE0-F9101168518B}" destId="{A10F0E82-56A7-43AD-A3FA-71808DE68F67}" srcOrd="1" destOrd="0" parTransId="{CC1B043E-6A5F-4682-B01A-9A501AF769CC}" sibTransId="{542601AA-10F1-44F7-A3C3-6EB005F8B518}"/>
    <dgm:cxn modelId="{4FD449A9-EB99-6843-999A-363BB853A147}" type="presOf" srcId="{7EF66420-DFB6-4F22-83D5-380985981B50}" destId="{AD07E702-498C-EE48-9F98-B94D9B5B8E1E}" srcOrd="0" destOrd="0" presId="urn:microsoft.com/office/officeart/2005/8/layout/default"/>
    <dgm:cxn modelId="{96D0C0AB-C28D-CC4A-8A8E-E36109BE224A}" type="presOf" srcId="{A10F0E82-56A7-43AD-A3FA-71808DE68F67}" destId="{E60BA92D-0F07-1F4C-A458-95F771F84FEF}" srcOrd="0" destOrd="0" presId="urn:microsoft.com/office/officeart/2005/8/layout/default"/>
    <dgm:cxn modelId="{6B761FCB-9156-9C47-B66D-61C04AD6B430}" type="presOf" srcId="{8680CF7B-464E-4A08-BD8D-9016AAE19801}" destId="{02F6CF65-0818-DC40-8FB3-642A3C0F278B}" srcOrd="0" destOrd="0" presId="urn:microsoft.com/office/officeart/2005/8/layout/default"/>
    <dgm:cxn modelId="{1926E1CF-83B9-47E2-89A8-A7A6B4454E88}" srcId="{8B12059C-D236-47F9-8EE0-F9101168518B}" destId="{C5A51982-AFEF-4BFF-B016-C160E9F711CB}" srcOrd="4" destOrd="0" parTransId="{60B3CC63-5212-4B46-8EFA-082A2572AC29}" sibTransId="{F654164D-31DC-4FE2-AC95-5FB87E00AC3B}"/>
    <dgm:cxn modelId="{A0030DD9-7ED0-4B12-AB43-BFE7E8ECADB3}" srcId="{8B12059C-D236-47F9-8EE0-F9101168518B}" destId="{8680CF7B-464E-4A08-BD8D-9016AAE19801}" srcOrd="3" destOrd="0" parTransId="{18ED184D-4B43-4A03-8DDE-B9D17A702BBC}" sibTransId="{F08F9A4B-EB1B-4F2D-A250-838D3A2B4753}"/>
    <dgm:cxn modelId="{CF6E1ADA-14EC-FD42-9889-EE7B5024ECC0}" type="presOf" srcId="{8B12059C-D236-47F9-8EE0-F9101168518B}" destId="{1E8DFBAF-95C5-BB43-B629-23D402CBDFDC}" srcOrd="0" destOrd="0" presId="urn:microsoft.com/office/officeart/2005/8/layout/default"/>
    <dgm:cxn modelId="{3A2BCFF8-363F-ED42-A1E0-6E20ACFA7184}" type="presOf" srcId="{C5A51982-AFEF-4BFF-B016-C160E9F711CB}" destId="{F12226B5-0C20-FC4E-A052-1F8F4BE7B683}" srcOrd="0" destOrd="0" presId="urn:microsoft.com/office/officeart/2005/8/layout/default"/>
    <dgm:cxn modelId="{ACCBD4E2-5D7F-314C-935F-4A69629BF413}" type="presParOf" srcId="{1E8DFBAF-95C5-BB43-B629-23D402CBDFDC}" destId="{DDC0A68B-E025-A04C-89B9-19D3818FB098}" srcOrd="0" destOrd="0" presId="urn:microsoft.com/office/officeart/2005/8/layout/default"/>
    <dgm:cxn modelId="{0D3C8479-32EA-CF4A-BD4D-EB5250FB4F7A}" type="presParOf" srcId="{1E8DFBAF-95C5-BB43-B629-23D402CBDFDC}" destId="{3C252BE0-1263-5445-812F-0E6D7B9F6341}" srcOrd="1" destOrd="0" presId="urn:microsoft.com/office/officeart/2005/8/layout/default"/>
    <dgm:cxn modelId="{B129D4D7-5F11-1840-89A8-8EDD86A26209}" type="presParOf" srcId="{1E8DFBAF-95C5-BB43-B629-23D402CBDFDC}" destId="{E60BA92D-0F07-1F4C-A458-95F771F84FEF}" srcOrd="2" destOrd="0" presId="urn:microsoft.com/office/officeart/2005/8/layout/default"/>
    <dgm:cxn modelId="{52FAC044-6CA9-DD4F-B379-379B82A3C0DA}" type="presParOf" srcId="{1E8DFBAF-95C5-BB43-B629-23D402CBDFDC}" destId="{2274D063-6AB0-3842-90CA-5408563BF921}" srcOrd="3" destOrd="0" presId="urn:microsoft.com/office/officeart/2005/8/layout/default"/>
    <dgm:cxn modelId="{B9AE1FB8-B728-E74F-A075-24AA060B9885}" type="presParOf" srcId="{1E8DFBAF-95C5-BB43-B629-23D402CBDFDC}" destId="{AD07E702-498C-EE48-9F98-B94D9B5B8E1E}" srcOrd="4" destOrd="0" presId="urn:microsoft.com/office/officeart/2005/8/layout/default"/>
    <dgm:cxn modelId="{66B97C54-7DB5-7042-A323-5C49111F8191}" type="presParOf" srcId="{1E8DFBAF-95C5-BB43-B629-23D402CBDFDC}" destId="{38676188-91CC-854F-8763-0DEB55CBF7CF}" srcOrd="5" destOrd="0" presId="urn:microsoft.com/office/officeart/2005/8/layout/default"/>
    <dgm:cxn modelId="{3BA5F3EF-DCB4-684E-B28D-277E0ED23546}" type="presParOf" srcId="{1E8DFBAF-95C5-BB43-B629-23D402CBDFDC}" destId="{02F6CF65-0818-DC40-8FB3-642A3C0F278B}" srcOrd="6" destOrd="0" presId="urn:microsoft.com/office/officeart/2005/8/layout/default"/>
    <dgm:cxn modelId="{905D3E31-B2E3-2745-AF5A-5BD46BDD7BC2}" type="presParOf" srcId="{1E8DFBAF-95C5-BB43-B629-23D402CBDFDC}" destId="{713F7BE0-1F1F-3041-AED9-2D984FB4C2C9}" srcOrd="7" destOrd="0" presId="urn:microsoft.com/office/officeart/2005/8/layout/default"/>
    <dgm:cxn modelId="{BE118EB1-D67B-EF49-B5A6-842DB377D6E9}" type="presParOf" srcId="{1E8DFBAF-95C5-BB43-B629-23D402CBDFDC}" destId="{F12226B5-0C20-FC4E-A052-1F8F4BE7B683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0039968-2289-4392-9AFD-D1F029B1180C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A8FF295-3BF1-40B1-956C-1F1BEAB95FA3}">
      <dgm:prSet/>
      <dgm:spPr/>
      <dgm:t>
        <a:bodyPr/>
        <a:lstStyle/>
        <a:p>
          <a:r>
            <a:rPr lang="en-US"/>
            <a:t>Map shows all three sites; marker size scaled by current active patients.</a:t>
          </a:r>
        </a:p>
      </dgm:t>
    </dgm:pt>
    <dgm:pt modelId="{792C0D2D-E89A-4C2F-A014-E865B869F028}" type="parTrans" cxnId="{2823BD35-8975-446D-BA61-6811363FF755}">
      <dgm:prSet/>
      <dgm:spPr/>
      <dgm:t>
        <a:bodyPr/>
        <a:lstStyle/>
        <a:p>
          <a:endParaRPr lang="en-US"/>
        </a:p>
      </dgm:t>
    </dgm:pt>
    <dgm:pt modelId="{7BC4B5AB-5CED-4A3A-95DA-508CFDE8A861}" type="sibTrans" cxnId="{2823BD35-8975-446D-BA61-6811363FF755}">
      <dgm:prSet/>
      <dgm:spPr/>
      <dgm:t>
        <a:bodyPr/>
        <a:lstStyle/>
        <a:p>
          <a:endParaRPr lang="en-US"/>
        </a:p>
      </dgm:t>
    </dgm:pt>
    <dgm:pt modelId="{FDD23692-87BD-47CF-9C16-A6167A3461FC}">
      <dgm:prSet/>
      <dgm:spPr/>
      <dgm:t>
        <a:bodyPr/>
        <a:lstStyle/>
        <a:p>
          <a:r>
            <a:rPr lang="en-US"/>
            <a:t>Combined daily active patients top 6 k; staff on duty ~3 k (ratio 1 : 2).</a:t>
          </a:r>
        </a:p>
      </dgm:t>
    </dgm:pt>
    <dgm:pt modelId="{DA608B06-FE0C-44ED-8ECD-CA6888C72595}" type="parTrans" cxnId="{4DD36F9D-269E-4941-8089-5AA31DBC8FA4}">
      <dgm:prSet/>
      <dgm:spPr/>
      <dgm:t>
        <a:bodyPr/>
        <a:lstStyle/>
        <a:p>
          <a:endParaRPr lang="en-US"/>
        </a:p>
      </dgm:t>
    </dgm:pt>
    <dgm:pt modelId="{BB1A3432-D902-440A-B576-73DE86C06AAA}" type="sibTrans" cxnId="{4DD36F9D-269E-4941-8089-5AA31DBC8FA4}">
      <dgm:prSet/>
      <dgm:spPr/>
      <dgm:t>
        <a:bodyPr/>
        <a:lstStyle/>
        <a:p>
          <a:endParaRPr lang="en-US"/>
        </a:p>
      </dgm:t>
    </dgm:pt>
    <dgm:pt modelId="{B452481B-601F-44C2-884A-1FC6DED4644F}">
      <dgm:prSet/>
      <dgm:spPr/>
      <dgm:t>
        <a:bodyPr/>
        <a:lstStyle/>
        <a:p>
          <a:r>
            <a:rPr lang="en-US"/>
            <a:t>Quarterly bar‑pairs: Beds 31‑32 across Q1‑Q4; staff slightly lower – 25‑27.</a:t>
          </a:r>
        </a:p>
      </dgm:t>
    </dgm:pt>
    <dgm:pt modelId="{C3ECCF60-3BF6-4D3F-B579-68D9F466431D}" type="parTrans" cxnId="{915A6C98-3975-4615-83F2-7F64A349843E}">
      <dgm:prSet/>
      <dgm:spPr/>
      <dgm:t>
        <a:bodyPr/>
        <a:lstStyle/>
        <a:p>
          <a:endParaRPr lang="en-US"/>
        </a:p>
      </dgm:t>
    </dgm:pt>
    <dgm:pt modelId="{FFC075D7-9B34-41B0-A443-6C38CDF02F81}" type="sibTrans" cxnId="{915A6C98-3975-4615-83F2-7F64A349843E}">
      <dgm:prSet/>
      <dgm:spPr/>
      <dgm:t>
        <a:bodyPr/>
        <a:lstStyle/>
        <a:p>
          <a:endParaRPr lang="en-US"/>
        </a:p>
      </dgm:t>
    </dgm:pt>
    <dgm:pt modelId="{3F3B2558-56AA-43AE-AE0D-D48929112918}">
      <dgm:prSet/>
      <dgm:spPr/>
      <dgm:t>
        <a:bodyPr/>
        <a:lstStyle/>
        <a:p>
          <a:r>
            <a:rPr lang="en-US"/>
            <a:t>Treatment‑type grid compares admissions vs bed usage for every hospital.</a:t>
          </a:r>
        </a:p>
      </dgm:t>
    </dgm:pt>
    <dgm:pt modelId="{D47D2D89-B82A-4D25-B63C-88277A0851CC}" type="parTrans" cxnId="{93C5F81F-F46E-4851-9F15-066953C77A16}">
      <dgm:prSet/>
      <dgm:spPr/>
      <dgm:t>
        <a:bodyPr/>
        <a:lstStyle/>
        <a:p>
          <a:endParaRPr lang="en-US"/>
        </a:p>
      </dgm:t>
    </dgm:pt>
    <dgm:pt modelId="{F298C1A1-33AB-4A6E-AD4E-14493E8183E0}" type="sibTrans" cxnId="{93C5F81F-F46E-4851-9F15-066953C77A16}">
      <dgm:prSet/>
      <dgm:spPr/>
      <dgm:t>
        <a:bodyPr/>
        <a:lstStyle/>
        <a:p>
          <a:endParaRPr lang="en-US"/>
        </a:p>
      </dgm:t>
    </dgm:pt>
    <dgm:pt modelId="{38633FF8-42FF-4510-8767-0ED673F35FCA}">
      <dgm:prSet/>
      <dgm:spPr/>
      <dgm:t>
        <a:bodyPr/>
        <a:lstStyle/>
        <a:p>
          <a:r>
            <a:rPr lang="en-US"/>
            <a:t>Takeaway: Chain operating at 90 % bed capacity; plan 200 extra staff &amp; 30 new beds by Q3.</a:t>
          </a:r>
        </a:p>
      </dgm:t>
    </dgm:pt>
    <dgm:pt modelId="{FB83BC6A-4301-4BC8-AB7E-8695BFF5B3D0}" type="parTrans" cxnId="{B6771A79-04A8-46EA-B2D0-09AD538DF096}">
      <dgm:prSet/>
      <dgm:spPr/>
      <dgm:t>
        <a:bodyPr/>
        <a:lstStyle/>
        <a:p>
          <a:endParaRPr lang="en-US"/>
        </a:p>
      </dgm:t>
    </dgm:pt>
    <dgm:pt modelId="{7F1D88B3-C9A3-4B7A-BFA5-4C572DEE4272}" type="sibTrans" cxnId="{B6771A79-04A8-46EA-B2D0-09AD538DF096}">
      <dgm:prSet/>
      <dgm:spPr/>
      <dgm:t>
        <a:bodyPr/>
        <a:lstStyle/>
        <a:p>
          <a:endParaRPr lang="en-US"/>
        </a:p>
      </dgm:t>
    </dgm:pt>
    <dgm:pt modelId="{7F741D81-EDF1-4648-A4F2-61D8638B39A3}" type="pres">
      <dgm:prSet presAssocID="{90039968-2289-4392-9AFD-D1F029B1180C}" presName="diagram" presStyleCnt="0">
        <dgm:presLayoutVars>
          <dgm:dir/>
          <dgm:resizeHandles val="exact"/>
        </dgm:presLayoutVars>
      </dgm:prSet>
      <dgm:spPr/>
    </dgm:pt>
    <dgm:pt modelId="{0CCCEC1D-E5AB-434C-A888-5D6588C1ADDE}" type="pres">
      <dgm:prSet presAssocID="{3A8FF295-3BF1-40B1-956C-1F1BEAB95FA3}" presName="node" presStyleLbl="node1" presStyleIdx="0" presStyleCnt="5">
        <dgm:presLayoutVars>
          <dgm:bulletEnabled val="1"/>
        </dgm:presLayoutVars>
      </dgm:prSet>
      <dgm:spPr/>
    </dgm:pt>
    <dgm:pt modelId="{9CC93EF7-6F7A-0242-B196-1F1A5F80B2FA}" type="pres">
      <dgm:prSet presAssocID="{7BC4B5AB-5CED-4A3A-95DA-508CFDE8A861}" presName="sibTrans" presStyleCnt="0"/>
      <dgm:spPr/>
    </dgm:pt>
    <dgm:pt modelId="{DC022DE9-CF5E-934E-A37B-31A5C63954E0}" type="pres">
      <dgm:prSet presAssocID="{FDD23692-87BD-47CF-9C16-A6167A3461FC}" presName="node" presStyleLbl="node1" presStyleIdx="1" presStyleCnt="5">
        <dgm:presLayoutVars>
          <dgm:bulletEnabled val="1"/>
        </dgm:presLayoutVars>
      </dgm:prSet>
      <dgm:spPr/>
    </dgm:pt>
    <dgm:pt modelId="{6DD47B0B-4287-1D49-955B-18172D51DD7B}" type="pres">
      <dgm:prSet presAssocID="{BB1A3432-D902-440A-B576-73DE86C06AAA}" presName="sibTrans" presStyleCnt="0"/>
      <dgm:spPr/>
    </dgm:pt>
    <dgm:pt modelId="{1A1EA0AD-CE18-1543-B5D2-38536E5B15B6}" type="pres">
      <dgm:prSet presAssocID="{B452481B-601F-44C2-884A-1FC6DED4644F}" presName="node" presStyleLbl="node1" presStyleIdx="2" presStyleCnt="5">
        <dgm:presLayoutVars>
          <dgm:bulletEnabled val="1"/>
        </dgm:presLayoutVars>
      </dgm:prSet>
      <dgm:spPr/>
    </dgm:pt>
    <dgm:pt modelId="{B34CF3B0-DD81-4941-84B3-68C428F99C87}" type="pres">
      <dgm:prSet presAssocID="{FFC075D7-9B34-41B0-A443-6C38CDF02F81}" presName="sibTrans" presStyleCnt="0"/>
      <dgm:spPr/>
    </dgm:pt>
    <dgm:pt modelId="{4D029011-F319-8544-B1BA-AFC3C5917F9D}" type="pres">
      <dgm:prSet presAssocID="{3F3B2558-56AA-43AE-AE0D-D48929112918}" presName="node" presStyleLbl="node1" presStyleIdx="3" presStyleCnt="5">
        <dgm:presLayoutVars>
          <dgm:bulletEnabled val="1"/>
        </dgm:presLayoutVars>
      </dgm:prSet>
      <dgm:spPr/>
    </dgm:pt>
    <dgm:pt modelId="{ED80D7F3-1B75-B44C-B5AE-3823C1BD80C6}" type="pres">
      <dgm:prSet presAssocID="{F298C1A1-33AB-4A6E-AD4E-14493E8183E0}" presName="sibTrans" presStyleCnt="0"/>
      <dgm:spPr/>
    </dgm:pt>
    <dgm:pt modelId="{21DC9407-91BC-CF46-A33D-12015683A72B}" type="pres">
      <dgm:prSet presAssocID="{38633FF8-42FF-4510-8767-0ED673F35FCA}" presName="node" presStyleLbl="node1" presStyleIdx="4" presStyleCnt="5">
        <dgm:presLayoutVars>
          <dgm:bulletEnabled val="1"/>
        </dgm:presLayoutVars>
      </dgm:prSet>
      <dgm:spPr/>
    </dgm:pt>
  </dgm:ptLst>
  <dgm:cxnLst>
    <dgm:cxn modelId="{F80B5007-7733-0340-A662-344722087E08}" type="presOf" srcId="{3A8FF295-3BF1-40B1-956C-1F1BEAB95FA3}" destId="{0CCCEC1D-E5AB-434C-A888-5D6588C1ADDE}" srcOrd="0" destOrd="0" presId="urn:microsoft.com/office/officeart/2005/8/layout/default"/>
    <dgm:cxn modelId="{E808CC14-455E-0249-8987-32621C3DDEF3}" type="presOf" srcId="{90039968-2289-4392-9AFD-D1F029B1180C}" destId="{7F741D81-EDF1-4648-A4F2-61D8638B39A3}" srcOrd="0" destOrd="0" presId="urn:microsoft.com/office/officeart/2005/8/layout/default"/>
    <dgm:cxn modelId="{93C5F81F-F46E-4851-9F15-066953C77A16}" srcId="{90039968-2289-4392-9AFD-D1F029B1180C}" destId="{3F3B2558-56AA-43AE-AE0D-D48929112918}" srcOrd="3" destOrd="0" parTransId="{D47D2D89-B82A-4D25-B63C-88277A0851CC}" sibTransId="{F298C1A1-33AB-4A6E-AD4E-14493E8183E0}"/>
    <dgm:cxn modelId="{61B3842E-905A-2742-BCE6-14D7C49CE2A2}" type="presOf" srcId="{3F3B2558-56AA-43AE-AE0D-D48929112918}" destId="{4D029011-F319-8544-B1BA-AFC3C5917F9D}" srcOrd="0" destOrd="0" presId="urn:microsoft.com/office/officeart/2005/8/layout/default"/>
    <dgm:cxn modelId="{2823BD35-8975-446D-BA61-6811363FF755}" srcId="{90039968-2289-4392-9AFD-D1F029B1180C}" destId="{3A8FF295-3BF1-40B1-956C-1F1BEAB95FA3}" srcOrd="0" destOrd="0" parTransId="{792C0D2D-E89A-4C2F-A014-E865B869F028}" sibTransId="{7BC4B5AB-5CED-4A3A-95DA-508CFDE8A861}"/>
    <dgm:cxn modelId="{66397837-2FF5-4445-B794-A78C75C310B7}" type="presOf" srcId="{FDD23692-87BD-47CF-9C16-A6167A3461FC}" destId="{DC022DE9-CF5E-934E-A37B-31A5C63954E0}" srcOrd="0" destOrd="0" presId="urn:microsoft.com/office/officeart/2005/8/layout/default"/>
    <dgm:cxn modelId="{3E40C560-1124-2B40-80DB-7B83EADF4C7B}" type="presOf" srcId="{B452481B-601F-44C2-884A-1FC6DED4644F}" destId="{1A1EA0AD-CE18-1543-B5D2-38536E5B15B6}" srcOrd="0" destOrd="0" presId="urn:microsoft.com/office/officeart/2005/8/layout/default"/>
    <dgm:cxn modelId="{B6771A79-04A8-46EA-B2D0-09AD538DF096}" srcId="{90039968-2289-4392-9AFD-D1F029B1180C}" destId="{38633FF8-42FF-4510-8767-0ED673F35FCA}" srcOrd="4" destOrd="0" parTransId="{FB83BC6A-4301-4BC8-AB7E-8695BFF5B3D0}" sibTransId="{7F1D88B3-C9A3-4B7A-BFA5-4C572DEE4272}"/>
    <dgm:cxn modelId="{915A6C98-3975-4615-83F2-7F64A349843E}" srcId="{90039968-2289-4392-9AFD-D1F029B1180C}" destId="{B452481B-601F-44C2-884A-1FC6DED4644F}" srcOrd="2" destOrd="0" parTransId="{C3ECCF60-3BF6-4D3F-B579-68D9F466431D}" sibTransId="{FFC075D7-9B34-41B0-A443-6C38CDF02F81}"/>
    <dgm:cxn modelId="{4DD36F9D-269E-4941-8089-5AA31DBC8FA4}" srcId="{90039968-2289-4392-9AFD-D1F029B1180C}" destId="{FDD23692-87BD-47CF-9C16-A6167A3461FC}" srcOrd="1" destOrd="0" parTransId="{DA608B06-FE0C-44ED-8ECD-CA6888C72595}" sibTransId="{BB1A3432-D902-440A-B576-73DE86C06AAA}"/>
    <dgm:cxn modelId="{9B7525C7-A297-3540-BE94-283FF4DC5EF2}" type="presOf" srcId="{38633FF8-42FF-4510-8767-0ED673F35FCA}" destId="{21DC9407-91BC-CF46-A33D-12015683A72B}" srcOrd="0" destOrd="0" presId="urn:microsoft.com/office/officeart/2005/8/layout/default"/>
    <dgm:cxn modelId="{6580AF46-7588-884C-A41C-143EC7BF5696}" type="presParOf" srcId="{7F741D81-EDF1-4648-A4F2-61D8638B39A3}" destId="{0CCCEC1D-E5AB-434C-A888-5D6588C1ADDE}" srcOrd="0" destOrd="0" presId="urn:microsoft.com/office/officeart/2005/8/layout/default"/>
    <dgm:cxn modelId="{A53AE1A7-8755-DC40-B205-ACCC04E79134}" type="presParOf" srcId="{7F741D81-EDF1-4648-A4F2-61D8638B39A3}" destId="{9CC93EF7-6F7A-0242-B196-1F1A5F80B2FA}" srcOrd="1" destOrd="0" presId="urn:microsoft.com/office/officeart/2005/8/layout/default"/>
    <dgm:cxn modelId="{A71FDB42-0FFD-574E-BCD0-98A8C429C1A6}" type="presParOf" srcId="{7F741D81-EDF1-4648-A4F2-61D8638B39A3}" destId="{DC022DE9-CF5E-934E-A37B-31A5C63954E0}" srcOrd="2" destOrd="0" presId="urn:microsoft.com/office/officeart/2005/8/layout/default"/>
    <dgm:cxn modelId="{874ECBBD-4E95-2A45-A707-1B58398EA55D}" type="presParOf" srcId="{7F741D81-EDF1-4648-A4F2-61D8638B39A3}" destId="{6DD47B0B-4287-1D49-955B-18172D51DD7B}" srcOrd="3" destOrd="0" presId="urn:microsoft.com/office/officeart/2005/8/layout/default"/>
    <dgm:cxn modelId="{1C5DE74B-B800-A744-BED1-A059253DD88F}" type="presParOf" srcId="{7F741D81-EDF1-4648-A4F2-61D8638B39A3}" destId="{1A1EA0AD-CE18-1543-B5D2-38536E5B15B6}" srcOrd="4" destOrd="0" presId="urn:microsoft.com/office/officeart/2005/8/layout/default"/>
    <dgm:cxn modelId="{75D30740-B12E-3849-94DE-5AED2E0AEB19}" type="presParOf" srcId="{7F741D81-EDF1-4648-A4F2-61D8638B39A3}" destId="{B34CF3B0-DD81-4941-84B3-68C428F99C87}" srcOrd="5" destOrd="0" presId="urn:microsoft.com/office/officeart/2005/8/layout/default"/>
    <dgm:cxn modelId="{0FF7E127-2464-B449-A3A7-5286B590E2B1}" type="presParOf" srcId="{7F741D81-EDF1-4648-A4F2-61D8638B39A3}" destId="{4D029011-F319-8544-B1BA-AFC3C5917F9D}" srcOrd="6" destOrd="0" presId="urn:microsoft.com/office/officeart/2005/8/layout/default"/>
    <dgm:cxn modelId="{D944BC20-A507-5747-B425-D815E567039D}" type="presParOf" srcId="{7F741D81-EDF1-4648-A4F2-61D8638B39A3}" destId="{ED80D7F3-1B75-B44C-B5AE-3823C1BD80C6}" srcOrd="7" destOrd="0" presId="urn:microsoft.com/office/officeart/2005/8/layout/default"/>
    <dgm:cxn modelId="{5453C270-D66E-5A49-914E-86A148D58CCF}" type="presParOf" srcId="{7F741D81-EDF1-4648-A4F2-61D8638B39A3}" destId="{21DC9407-91BC-CF46-A33D-12015683A72B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444ABF-80CA-43A8-A2A7-FAFA18C40ED9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C4C786-982A-4F70-8FBC-D731F05AF3B9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29BE69-0A07-4FB4-A714-7E4755BCBA63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Riverdale’s map marker shows its Midwest location; colour indicates current occupancy.</a:t>
          </a:r>
        </a:p>
      </dsp:txBody>
      <dsp:txXfrm>
        <a:off x="518589" y="1265836"/>
        <a:ext cx="1582031" cy="632812"/>
      </dsp:txXfrm>
    </dsp:sp>
    <dsp:sp modelId="{A1174698-C1E4-44F8-9D64-EEF6C74C6874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B607CB-1497-4212-B51E-98FF533884BB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EC5F4B-F79D-4996-899C-D8A3E0E9C4BB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Blue bars (Active Patients) and orange line (Staff) track each January‑March day.</a:t>
          </a:r>
        </a:p>
      </dsp:txBody>
      <dsp:txXfrm>
        <a:off x="2377476" y="1265836"/>
        <a:ext cx="1582031" cy="632812"/>
      </dsp:txXfrm>
    </dsp:sp>
    <dsp:sp modelId="{B72FFAA8-F838-4F31-B6E8-3F5F237C2F55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F08F32-F22A-49CA-A803-1DA84B6C11A5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F6DFDD-00DF-49AB-8237-B61E0BD172D9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Quarterly bar‑pair: Beds ≈ 31, Staff ≈ 27 → utilisation ~87 %.</a:t>
          </a:r>
        </a:p>
      </dsp:txBody>
      <dsp:txXfrm>
        <a:off x="4236363" y="1265836"/>
        <a:ext cx="1582031" cy="632812"/>
      </dsp:txXfrm>
    </dsp:sp>
    <dsp:sp modelId="{7B799A1A-6F2D-425C-B45D-B08172224DAC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DCD54A-6675-4430-938B-03B2201C779B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03CE0B-6D05-4F2C-8526-890420B50807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Treatment‑type bars reveal Chemotherapy &amp; Medication dominate patient load.</a:t>
          </a:r>
        </a:p>
      </dsp:txBody>
      <dsp:txXfrm>
        <a:off x="6095249" y="1265836"/>
        <a:ext cx="1582031" cy="632812"/>
      </dsp:txXfrm>
    </dsp:sp>
    <dsp:sp modelId="{AFB38608-F93B-4B2B-BFCF-7C4C6F3F5056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AB2F82-31FB-4C31-9930-39F27AB8264A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F2BB91-E2FF-4BE4-9B54-2848E69F6DC2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Staff‑to‑patient ratio hovers near 1 : 20 – adequate but watch peak days.</a:t>
          </a:r>
        </a:p>
      </dsp:txBody>
      <dsp:txXfrm>
        <a:off x="3306919" y="3559781"/>
        <a:ext cx="1582031" cy="6328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6CCB12-FB6D-4924-B1A8-345DDAE31C54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AF5236-5B82-4761-8C87-BF7A7774FBE6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FDAD1-FC2C-424B-A7E1-B53A75B64134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Two map dots show hospitals 2 000 km apart; dual selection drives every chart.</a:t>
          </a:r>
        </a:p>
      </dsp:txBody>
      <dsp:txXfrm>
        <a:off x="518589" y="1265836"/>
        <a:ext cx="1582031" cy="632812"/>
      </dsp:txXfrm>
    </dsp:sp>
    <dsp:sp modelId="{7E14DA68-E668-446A-BF87-DF52BFA35BBD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1FDEA1-C551-48CD-9C26-A9D58EC8EC71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F12B39-C249-44CD-B3BA-3222D5E5A7FB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Green Valley runs slightly higher staff counts than Riverdale for similar beds.</a:t>
          </a:r>
        </a:p>
      </dsp:txBody>
      <dsp:txXfrm>
        <a:off x="2377476" y="1265836"/>
        <a:ext cx="1582031" cy="632812"/>
      </dsp:txXfrm>
    </dsp:sp>
    <dsp:sp modelId="{DF3F38B8-723C-43F7-8118-349A00C005A7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26B175-8837-4D56-9E40-44ECC8A88192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164AF1-1CF4-4C1B-A7CE-6E704F52E256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Daily combo chart: Green Valley peaks at 2 100 active patients vs 1 900 staff.</a:t>
          </a:r>
        </a:p>
      </dsp:txBody>
      <dsp:txXfrm>
        <a:off x="4236363" y="1265836"/>
        <a:ext cx="1582031" cy="632812"/>
      </dsp:txXfrm>
    </dsp:sp>
    <dsp:sp modelId="{5DC8523B-E840-4A6E-8D7B-6F6C99EE6B49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3EA09B-05EF-4805-A1C0-B443B2D4B90A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585835-49EE-4D06-90FE-527E93D33B42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Quarterly averages: GV bed utilisation 92 %, Riverdale 85 %.</a:t>
          </a:r>
        </a:p>
      </dsp:txBody>
      <dsp:txXfrm>
        <a:off x="6095249" y="1265836"/>
        <a:ext cx="1582031" cy="632812"/>
      </dsp:txXfrm>
    </dsp:sp>
    <dsp:sp modelId="{6A4DC834-B123-45CA-9104-9FFFBB0FF9F8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4D88DA-016E-42DF-B851-3DE273EE9B5F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2C9ED9-E833-4E0F-95C3-AAC6A0B884F3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Insight: Float nursing pool can shift 5 % capacity from GV to Riverdale on busy weeks.</a:t>
          </a:r>
        </a:p>
      </dsp:txBody>
      <dsp:txXfrm>
        <a:off x="3306919" y="3559781"/>
        <a:ext cx="1582031" cy="6328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8E8D8C-89ED-8D4A-9448-456048C5CA0E}">
      <dsp:nvSpPr>
        <dsp:cNvPr id="0" name=""/>
        <dsp:cNvSpPr/>
      </dsp:nvSpPr>
      <dsp:spPr>
        <a:xfrm>
          <a:off x="0" y="4316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City Hospital (East) + Green Valley (West) compared side‑by‑side.</a:t>
          </a:r>
        </a:p>
      </dsp:txBody>
      <dsp:txXfrm>
        <a:off x="0" y="431616"/>
        <a:ext cx="2561209" cy="1536725"/>
      </dsp:txXfrm>
    </dsp:sp>
    <dsp:sp modelId="{468BA1E9-A61A-E94D-A351-654BEDF799AC}">
      <dsp:nvSpPr>
        <dsp:cNvPr id="0" name=""/>
        <dsp:cNvSpPr/>
      </dsp:nvSpPr>
      <dsp:spPr>
        <a:xfrm>
          <a:off x="2817330" y="431616"/>
          <a:ext cx="2561209" cy="1536725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City’s admissions spike mid‑month; beds max out → discharge process slower.</a:t>
          </a:r>
        </a:p>
      </dsp:txBody>
      <dsp:txXfrm>
        <a:off x="2817330" y="431616"/>
        <a:ext cx="2561209" cy="1536725"/>
      </dsp:txXfrm>
    </dsp:sp>
    <dsp:sp modelId="{0559D96B-4275-394B-81A6-E291682AF7A6}">
      <dsp:nvSpPr>
        <dsp:cNvPr id="0" name=""/>
        <dsp:cNvSpPr/>
      </dsp:nvSpPr>
      <dsp:spPr>
        <a:xfrm>
          <a:off x="5634661" y="431616"/>
          <a:ext cx="2561209" cy="1536725"/>
        </a:xfrm>
        <a:prstGeom prst="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Green Valley steadier; potential to absorb City overflow (transfer bar confirms).</a:t>
          </a:r>
        </a:p>
      </dsp:txBody>
      <dsp:txXfrm>
        <a:off x="5634661" y="431616"/>
        <a:ext cx="2561209" cy="1536725"/>
      </dsp:txXfrm>
    </dsp:sp>
    <dsp:sp modelId="{D8415275-82AB-E04F-9C81-C3F6155ECBD7}">
      <dsp:nvSpPr>
        <dsp:cNvPr id="0" name=""/>
        <dsp:cNvSpPr/>
      </dsp:nvSpPr>
      <dsp:spPr>
        <a:xfrm>
          <a:off x="1408665" y="2224462"/>
          <a:ext cx="2561209" cy="1536725"/>
        </a:xfrm>
        <a:prstGeom prst="rect">
          <a:avLst/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Staff line shows City under‑staffed (ratio 1 : 28) on day 26 – alert trigger.</a:t>
          </a:r>
        </a:p>
      </dsp:txBody>
      <dsp:txXfrm>
        <a:off x="1408665" y="2224462"/>
        <a:ext cx="2561209" cy="1536725"/>
      </dsp:txXfrm>
    </dsp:sp>
    <dsp:sp modelId="{4F30E1A1-C15A-9541-85E3-13D7603C30C1}">
      <dsp:nvSpPr>
        <dsp:cNvPr id="0" name=""/>
        <dsp:cNvSpPr/>
      </dsp:nvSpPr>
      <dsp:spPr>
        <a:xfrm>
          <a:off x="4225995" y="2224462"/>
          <a:ext cx="2561209" cy="1536725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Strategic: re‑allocate 50 staff from GV night shift to City day shift next surge.</a:t>
          </a:r>
        </a:p>
      </dsp:txBody>
      <dsp:txXfrm>
        <a:off x="4225995" y="2224462"/>
        <a:ext cx="2561209" cy="15367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C0A68B-E025-A04C-89B9-19D3818FB098}">
      <dsp:nvSpPr>
        <dsp:cNvPr id="0" name=""/>
        <dsp:cNvSpPr/>
      </dsp:nvSpPr>
      <dsp:spPr>
        <a:xfrm>
          <a:off x="0" y="4316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Single‑facility deep dive on City Hospital in New York region.</a:t>
          </a:r>
        </a:p>
      </dsp:txBody>
      <dsp:txXfrm>
        <a:off x="0" y="431616"/>
        <a:ext cx="2561209" cy="1536725"/>
      </dsp:txXfrm>
    </dsp:sp>
    <dsp:sp modelId="{E60BA92D-0F07-1F4C-A458-95F771F84FEF}">
      <dsp:nvSpPr>
        <dsp:cNvPr id="0" name=""/>
        <dsp:cNvSpPr/>
      </dsp:nvSpPr>
      <dsp:spPr>
        <a:xfrm>
          <a:off x="2817330" y="431616"/>
          <a:ext cx="2561209" cy="1536725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Quarterly averages show beds 31, staff 28 – but daily spikes hit 2 k active patients.</a:t>
          </a:r>
        </a:p>
      </dsp:txBody>
      <dsp:txXfrm>
        <a:off x="2817330" y="431616"/>
        <a:ext cx="2561209" cy="1536725"/>
      </dsp:txXfrm>
    </dsp:sp>
    <dsp:sp modelId="{AD07E702-498C-EE48-9F98-B94D9B5B8E1E}">
      <dsp:nvSpPr>
        <dsp:cNvPr id="0" name=""/>
        <dsp:cNvSpPr/>
      </dsp:nvSpPr>
      <dsp:spPr>
        <a:xfrm>
          <a:off x="5634661" y="431616"/>
          <a:ext cx="2561209" cy="1536725"/>
        </a:xfrm>
        <a:prstGeom prst="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Bed occupancy lags admissions by ~10 % → discharge bottleneck in Physiotherapy ward.</a:t>
          </a:r>
        </a:p>
      </dsp:txBody>
      <dsp:txXfrm>
        <a:off x="5634661" y="431616"/>
        <a:ext cx="2561209" cy="1536725"/>
      </dsp:txXfrm>
    </dsp:sp>
    <dsp:sp modelId="{02F6CF65-0818-DC40-8FB3-642A3C0F278B}">
      <dsp:nvSpPr>
        <dsp:cNvPr id="0" name=""/>
        <dsp:cNvSpPr/>
      </dsp:nvSpPr>
      <dsp:spPr>
        <a:xfrm>
          <a:off x="1408665" y="2224462"/>
          <a:ext cx="2561209" cy="1536725"/>
        </a:xfrm>
        <a:prstGeom prst="rect">
          <a:avLst/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Treatment chart: Surgery cases highest admissions, Bed occupancy 80 %.</a:t>
          </a:r>
        </a:p>
      </dsp:txBody>
      <dsp:txXfrm>
        <a:off x="1408665" y="2224462"/>
        <a:ext cx="2561209" cy="1536725"/>
      </dsp:txXfrm>
    </dsp:sp>
    <dsp:sp modelId="{F12226B5-0C20-FC4E-A052-1F8F4BE7B683}">
      <dsp:nvSpPr>
        <dsp:cNvPr id="0" name=""/>
        <dsp:cNvSpPr/>
      </dsp:nvSpPr>
      <dsp:spPr>
        <a:xfrm>
          <a:off x="4225995" y="2224462"/>
          <a:ext cx="2561209" cy="1536725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Action: add weekend discharge rounds; consider 8 extra surgical beds.</a:t>
          </a:r>
        </a:p>
      </dsp:txBody>
      <dsp:txXfrm>
        <a:off x="4225995" y="2224462"/>
        <a:ext cx="2561209" cy="153672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CCEC1D-E5AB-434C-A888-5D6588C1ADDE}">
      <dsp:nvSpPr>
        <dsp:cNvPr id="0" name=""/>
        <dsp:cNvSpPr/>
      </dsp:nvSpPr>
      <dsp:spPr>
        <a:xfrm>
          <a:off x="0" y="4316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Map shows all three sites; marker size scaled by current active patients.</a:t>
          </a:r>
        </a:p>
      </dsp:txBody>
      <dsp:txXfrm>
        <a:off x="0" y="431616"/>
        <a:ext cx="2561209" cy="1536725"/>
      </dsp:txXfrm>
    </dsp:sp>
    <dsp:sp modelId="{DC022DE9-CF5E-934E-A37B-31A5C63954E0}">
      <dsp:nvSpPr>
        <dsp:cNvPr id="0" name=""/>
        <dsp:cNvSpPr/>
      </dsp:nvSpPr>
      <dsp:spPr>
        <a:xfrm>
          <a:off x="2817330" y="431616"/>
          <a:ext cx="2561209" cy="1536725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Combined daily active patients top 6 k; staff on duty ~3 k (ratio 1 : 2).</a:t>
          </a:r>
        </a:p>
      </dsp:txBody>
      <dsp:txXfrm>
        <a:off x="2817330" y="431616"/>
        <a:ext cx="2561209" cy="1536725"/>
      </dsp:txXfrm>
    </dsp:sp>
    <dsp:sp modelId="{1A1EA0AD-CE18-1543-B5D2-38536E5B15B6}">
      <dsp:nvSpPr>
        <dsp:cNvPr id="0" name=""/>
        <dsp:cNvSpPr/>
      </dsp:nvSpPr>
      <dsp:spPr>
        <a:xfrm>
          <a:off x="5634661" y="431616"/>
          <a:ext cx="2561209" cy="1536725"/>
        </a:xfrm>
        <a:prstGeom prst="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Quarterly bar‑pairs: Beds 31‑32 across Q1‑Q4; staff slightly lower – 25‑27.</a:t>
          </a:r>
        </a:p>
      </dsp:txBody>
      <dsp:txXfrm>
        <a:off x="5634661" y="431616"/>
        <a:ext cx="2561209" cy="1536725"/>
      </dsp:txXfrm>
    </dsp:sp>
    <dsp:sp modelId="{4D029011-F319-8544-B1BA-AFC3C5917F9D}">
      <dsp:nvSpPr>
        <dsp:cNvPr id="0" name=""/>
        <dsp:cNvSpPr/>
      </dsp:nvSpPr>
      <dsp:spPr>
        <a:xfrm>
          <a:off x="1408665" y="2224462"/>
          <a:ext cx="2561209" cy="1536725"/>
        </a:xfrm>
        <a:prstGeom prst="rect">
          <a:avLst/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Treatment‑type grid compares admissions vs bed usage for every hospital.</a:t>
          </a:r>
        </a:p>
      </dsp:txBody>
      <dsp:txXfrm>
        <a:off x="1408665" y="2224462"/>
        <a:ext cx="2561209" cy="1536725"/>
      </dsp:txXfrm>
    </dsp:sp>
    <dsp:sp modelId="{21DC9407-91BC-CF46-A33D-12015683A72B}">
      <dsp:nvSpPr>
        <dsp:cNvPr id="0" name=""/>
        <dsp:cNvSpPr/>
      </dsp:nvSpPr>
      <dsp:spPr>
        <a:xfrm>
          <a:off x="4225995" y="2224462"/>
          <a:ext cx="2561209" cy="1536725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Takeaway: Chain operating at 90 % bed capacity; plan 200 extra staff &amp; 30 new beds by Q3.</a:t>
          </a:r>
        </a:p>
      </dsp:txBody>
      <dsp:txXfrm>
        <a:off x="4225995" y="2224462"/>
        <a:ext cx="2561209" cy="15367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942996" y="4267832"/>
            <a:ext cx="3604497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/>
            </a:pPr>
            <a:r>
              <a:rPr lang="en-US" sz="3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Hospital Capacity &amp; Staffing Dashboards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43224" y="3428999"/>
            <a:ext cx="3604268" cy="8388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2400"/>
            </a:pPr>
            <a:r>
              <a:rPr lang="en-US" sz="17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Tableau</a:t>
            </a:r>
          </a:p>
        </p:txBody>
      </p:sp>
      <p:pic>
        <p:nvPicPr>
          <p:cNvPr id="7" name="Graphic 6" descr="Stethoscope">
            <a:extLst>
              <a:ext uri="{FF2B5EF4-FFF2-40B4-BE49-F238E27FC236}">
                <a16:creationId xmlns:a16="http://schemas.microsoft.com/office/drawing/2014/main" id="{30C92851-EC09-7900-023A-1DF214124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8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creenshot 2025-04-12 at 2.06.12 PM.png"/>
          <p:cNvPicPr>
            <a:picLocks noChangeAspect="1"/>
          </p:cNvPicPr>
          <p:nvPr/>
        </p:nvPicPr>
        <p:blipFill>
          <a:blip r:embed="rId2"/>
          <a:srcRect l="2667" r="-1" b="-1"/>
          <a:stretch/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22960" y="325550"/>
            <a:ext cx="7543800" cy="35747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/>
            </a:pPr>
            <a:r>
              <a:rPr lang="en-US" sz="45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Riverdale Hospital – Focus 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2700">
                <a:solidFill>
                  <a:srgbClr val="FFFFFF"/>
                </a:solidFill>
              </a:rPr>
              <a:t>Riverdale Hospital – Focus View – What This Tells Us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378470-CF61-7FAD-CF3E-DD08F6F628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745335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creenshot 2025-04-12 at 2.06.04 PM.png"/>
          <p:cNvPicPr>
            <a:picLocks noChangeAspect="1"/>
          </p:cNvPicPr>
          <p:nvPr/>
        </p:nvPicPr>
        <p:blipFill>
          <a:blip r:embed="rId2"/>
          <a:srcRect l="2000" r="-2" b="-2"/>
          <a:stretch/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22960" y="325550"/>
            <a:ext cx="7543800" cy="35747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/>
            </a:pPr>
            <a:r>
              <a:rPr lang="en-US" sz="45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Riverdale + Green Valley – Dual 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2700">
                <a:solidFill>
                  <a:srgbClr val="FFFFFF"/>
                </a:solidFill>
              </a:rPr>
              <a:t>Riverdale + Green Valley – Dual View – What This Tells Us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F51662-0A6F-FCA7-6267-8FB0755C1C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979753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creenshot 2025-04-12 at 2.05.57 PM.png"/>
          <p:cNvPicPr>
            <a:picLocks noChangeAspect="1"/>
          </p:cNvPicPr>
          <p:nvPr/>
        </p:nvPicPr>
        <p:blipFill>
          <a:blip r:embed="rId2"/>
          <a:srcRect l="7333"/>
          <a:stretch/>
        </p:blipFill>
        <p:spPr>
          <a:xfrm>
            <a:off x="633819" y="10"/>
            <a:ext cx="9143999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22960" y="325550"/>
            <a:ext cx="7543800" cy="35747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/>
            </a:pPr>
            <a:r>
              <a:rPr lang="en-US" sz="45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City Hospital + Green Valley – Dual 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2700">
                <a:solidFill>
                  <a:srgbClr val="FFFFFF"/>
                </a:solidFill>
              </a:rPr>
              <a:t>City Hospital + Green Valley – Dual View – What This Tells Us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221A88-CFA5-7E35-0179-36919DDC32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948781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creenshot 2025-04-12 at 2.05.51 PM.png"/>
          <p:cNvPicPr>
            <a:picLocks noChangeAspect="1"/>
          </p:cNvPicPr>
          <p:nvPr/>
        </p:nvPicPr>
        <p:blipFill>
          <a:blip r:embed="rId2"/>
          <a:srcRect l="8333" r="-1" b="-1"/>
          <a:stretch/>
        </p:blipFill>
        <p:spPr>
          <a:xfrm>
            <a:off x="335646" y="10"/>
            <a:ext cx="9143999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22960" y="325550"/>
            <a:ext cx="7543800" cy="35747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/>
            </a:pPr>
            <a:r>
              <a:rPr lang="en-US" sz="45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City Hospital – Focus 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3000">
                <a:solidFill>
                  <a:srgbClr val="FFFFFF"/>
                </a:solidFill>
              </a:rPr>
              <a:t>City Hospital – Focus View – What This Tells Us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C825D7-5624-3338-1AB2-403378D28B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839674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creenshot 2025-04-12 at 2.05.42 PM.png"/>
          <p:cNvPicPr>
            <a:picLocks noChangeAspect="1"/>
          </p:cNvPicPr>
          <p:nvPr/>
        </p:nvPicPr>
        <p:blipFill>
          <a:blip r:embed="rId2"/>
          <a:srcRect l="10342" r="2659" b="1"/>
          <a:stretch/>
        </p:blipFill>
        <p:spPr>
          <a:xfrm>
            <a:off x="385341" y="10"/>
            <a:ext cx="9143999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22960" y="325550"/>
            <a:ext cx="7543800" cy="35747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/>
            </a:pPr>
            <a:r>
              <a:rPr lang="en-US" sz="45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All Hospitals – Consolidated 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2700">
                <a:solidFill>
                  <a:srgbClr val="FFFFFF"/>
                </a:solidFill>
              </a:rPr>
              <a:t>All Hospitals – Consolidated View – What This Tells Us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900146-0605-3CAB-F7A1-93FB032983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620526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470</Words>
  <Application>Microsoft Macintosh PowerPoint</Application>
  <PresentationFormat>On-screen Show (4:3)</PresentationFormat>
  <Paragraphs>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Riverdale Hospital – Focus View – What This Tells Us</vt:lpstr>
      <vt:lpstr>PowerPoint Presentation</vt:lpstr>
      <vt:lpstr>Riverdale + Green Valley – Dual View – What This Tells Us</vt:lpstr>
      <vt:lpstr>PowerPoint Presentation</vt:lpstr>
      <vt:lpstr>City Hospital + Green Valley – Dual View – What This Tells Us</vt:lpstr>
      <vt:lpstr>PowerPoint Presentation</vt:lpstr>
      <vt:lpstr>City Hospital – Focus View – What This Tells Us</vt:lpstr>
      <vt:lpstr>PowerPoint Presentation</vt:lpstr>
      <vt:lpstr>All Hospitals – Consolidated View – What This Tells Us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Prashuk Jain</cp:lastModifiedBy>
  <cp:revision>2</cp:revision>
  <dcterms:created xsi:type="dcterms:W3CDTF">2013-01-27T09:14:16Z</dcterms:created>
  <dcterms:modified xsi:type="dcterms:W3CDTF">2025-04-12T09:27:12Z</dcterms:modified>
  <cp:category/>
</cp:coreProperties>
</file>